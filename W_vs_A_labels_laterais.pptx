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3" r:id="rId2"/>
    <p:sldId id="256" r:id="rId3"/>
    <p:sldId id="264" r:id="rId4"/>
    <p:sldId id="265" r:id="rId5"/>
    <p:sldId id="281" r:id="rId6"/>
    <p:sldId id="282" r:id="rId7"/>
    <p:sldId id="283" r:id="rId8"/>
    <p:sldId id="284" r:id="rId9"/>
    <p:sldId id="285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8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63FF"/>
    <a:srgbClr val="F4F6F9"/>
    <a:srgbClr val="EA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29" autoAdjust="0"/>
    <p:restoredTop sz="71751" autoAdjust="0"/>
  </p:normalViewPr>
  <p:slideViewPr>
    <p:cSldViewPr snapToGrid="0" snapToObjects="1">
      <p:cViewPr varScale="1">
        <p:scale>
          <a:sx n="69" d="100"/>
          <a:sy n="69" d="100"/>
        </p:scale>
        <p:origin x="1808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85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Pessoal, queria falar um pouco sobre a arquitetura que estamos construindo aqui dentro. Não estou falando da integração, que não vai mais acontecer. Queria aproveitar esse tempo para definirmos uma arquitetura mais adequada para o nosso produto.</a:t>
            </a:r>
            <a:br>
              <a:rPr lang="pt-BR" dirty="0"/>
            </a:br>
            <a:r>
              <a:rPr lang="pt-BR" dirty="0"/>
              <a:t>Hoje, estamos criando três </a:t>
            </a:r>
            <a:r>
              <a:rPr lang="pt-BR" dirty="0" err="1"/>
              <a:t>microserviços</a:t>
            </a:r>
            <a:r>
              <a:rPr lang="pt-BR" dirty="0"/>
              <a:t>, um para cada componente que estamos chamando de agente. Essa decisão foi tomada sem termos clareza sobre o direcionamento da Governança e também pela urgência de uma entrega que não vai mais acontecer.</a:t>
            </a:r>
            <a:br>
              <a:rPr lang="pt-BR" dirty="0"/>
            </a:br>
            <a:r>
              <a:rPr lang="pt-BR" dirty="0"/>
              <a:t>Na última conversa, o Gabriel levantou uma questão sobre a responsabilidade desses </a:t>
            </a:r>
            <a:r>
              <a:rPr lang="pt-BR" dirty="0" err="1"/>
              <a:t>microserviços</a:t>
            </a:r>
            <a:r>
              <a:rPr lang="pt-BR" dirty="0"/>
              <a:t>. Esse ponto é muito importante, porque a gente pode estar criando uma dívida técnica que não precisa assumir.</a:t>
            </a:r>
            <a:br>
              <a:rPr lang="pt-BR" dirty="0"/>
            </a:br>
            <a:r>
              <a:rPr lang="pt-BR" dirty="0"/>
              <a:t>Então, queria alinhar com vocês a arquitetura do MF enquanto levo essa proposta para a Governança.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833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“A primeira questão que eu queria levantar é: </a:t>
            </a:r>
            <a:r>
              <a:rPr lang="pt-BR" b="1" dirty="0"/>
              <a:t>será que o que estamos construindo são agentes mesmo?</a:t>
            </a:r>
            <a:endParaRPr lang="pt-BR" dirty="0"/>
          </a:p>
          <a:p>
            <a:r>
              <a:rPr lang="pt-BR" dirty="0"/>
              <a:t>Para responder isso, precisamos entender como a pergunta do cliente é resolvida internamente.</a:t>
            </a:r>
          </a:p>
          <a:p>
            <a:r>
              <a:rPr lang="pt-BR" dirty="0"/>
              <a:t>Se o caminho já foi definido antes — por exemplo, recebe uma pergunta, consulta um RAG e responde — nós estamos falando de um workflow, mesmo que exista IA dentro desse fluxo.</a:t>
            </a:r>
          </a:p>
          <a:p>
            <a:r>
              <a:rPr lang="pt-BR" dirty="0"/>
              <a:t>No Agent, portanto, a lógica muda. Eu defino o objetivo, disponibilizo capacidades e deixo o modelo escolher quais precisa usar, observar o resultado e decidir o próximo passo.”</a:t>
            </a:r>
          </a:p>
          <a:p>
            <a:br>
              <a:rPr lang="pt-BR" dirty="0"/>
            </a:br>
            <a:br>
              <a:rPr lang="pt-BR" dirty="0"/>
            </a:br>
            <a:r>
              <a:rPr lang="pt-BR" dirty="0"/>
              <a:t>então a proposta é pegar todos esses workflows que foram criados e unificar em um único agente minhas finanças</a:t>
            </a:r>
            <a:br>
              <a:rPr lang="pt-BR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Antes de discutir quantos </a:t>
            </a:r>
            <a:r>
              <a:rPr lang="pt-BR" dirty="0" err="1"/>
              <a:t>Agents</a:t>
            </a:r>
            <a:r>
              <a:rPr lang="pt-BR" dirty="0"/>
              <a:t> ou quantos </a:t>
            </a:r>
            <a:r>
              <a:rPr lang="pt-BR" dirty="0" err="1"/>
              <a:t>microserviços</a:t>
            </a:r>
            <a:r>
              <a:rPr lang="pt-BR" dirty="0"/>
              <a:t> deveríamos ter, eu acho que a gente precisa começar pelo próprio produto.</a:t>
            </a:r>
          </a:p>
          <a:p>
            <a:r>
              <a:rPr lang="pt-BR" dirty="0"/>
              <a:t>O Banco do Brasil apresenta o </a:t>
            </a:r>
            <a:r>
              <a:rPr lang="pt-BR" b="1" dirty="0"/>
              <a:t>Minhas Finanças</a:t>
            </a:r>
            <a:r>
              <a:rPr lang="pt-BR" dirty="0"/>
              <a:t> como uma funcionalidade voltada à gestão da vida financeira: acompanhar gastos, organizar informações, planejar orçamento, acompanhar objetivos e usar a agenda financeira. Então, se essa é a proposta do produto, faz sentido que o Agent acompanhe esse mesmo escopo.</a:t>
            </a:r>
          </a:p>
          <a:p>
            <a:r>
              <a:rPr lang="pt-BR" dirty="0"/>
              <a:t>A proposta seria: </a:t>
            </a:r>
            <a:r>
              <a:rPr lang="pt-BR" b="1" dirty="0"/>
              <a:t>o Agent Minhas Finanças existe para ajudar o cliente a entender, planejar e administrar sua vida financeira.</a:t>
            </a:r>
            <a:endParaRPr lang="pt-BR" dirty="0"/>
          </a:p>
          <a:p>
            <a:r>
              <a:rPr lang="pt-BR" dirty="0"/>
              <a:t>Esse passa a ser o nosso </a:t>
            </a:r>
            <a:r>
              <a:rPr lang="pt-BR" dirty="0" err="1"/>
              <a:t>boundary</a:t>
            </a:r>
            <a:r>
              <a:rPr lang="pt-BR" dirty="0"/>
              <a:t>.</a:t>
            </a:r>
          </a:p>
          <a:p>
            <a:r>
              <a:rPr lang="pt-BR" dirty="0"/>
              <a:t>E, a partir daí, a arquitetura deixa de ser organizada por funcionalidade isolada e passa a ser organizada pelo objetivo do Agent.</a:t>
            </a:r>
          </a:p>
          <a:p>
            <a:r>
              <a:rPr lang="pt-BR" dirty="0"/>
              <a:t>A próxima pergunta então é:</a:t>
            </a:r>
          </a:p>
          <a:p>
            <a:r>
              <a:rPr lang="pt-BR" b="1" dirty="0"/>
              <a:t>quais capacidades esse Agent precisa ter para cumprir esse objetivo?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1262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“Se esse é o escopo do Minhas Finanças, então a próxima pergunta é: </a:t>
            </a:r>
            <a:r>
              <a:rPr lang="pt-BR" b="1" dirty="0"/>
              <a:t>o que esse Agent precisa saber fazer para cumprir esse objetivo?</a:t>
            </a:r>
            <a:endParaRPr lang="pt-BR" dirty="0"/>
          </a:p>
          <a:p>
            <a:r>
              <a:rPr lang="pt-BR" dirty="0"/>
              <a:t>Hoje, na prática, a gente já tem três capacidades bem claras.</a:t>
            </a:r>
          </a:p>
          <a:p>
            <a:r>
              <a:rPr lang="pt-BR" dirty="0"/>
              <a:t>A primeira é </a:t>
            </a:r>
            <a:r>
              <a:rPr lang="pt-BR" b="1" dirty="0"/>
              <a:t>navegar pelo Hub e orientar o cliente sobre os recursos disponíveis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A segunda é </a:t>
            </a:r>
            <a:r>
              <a:rPr lang="pt-BR" b="1" dirty="0"/>
              <a:t>consultar e explicar gastos e transações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E a terceira é </a:t>
            </a:r>
            <a:r>
              <a:rPr lang="pt-BR" b="1" dirty="0"/>
              <a:t>orientar o cliente com educação financeira</a:t>
            </a:r>
            <a:r>
              <a:rPr lang="pt-BR" dirty="0"/>
              <a:t>.</a:t>
            </a:r>
          </a:p>
          <a:p>
            <a:r>
              <a:rPr lang="pt-BR" dirty="0"/>
              <a:t>Eu posso tratá-las como </a:t>
            </a:r>
            <a:r>
              <a:rPr lang="pt-BR" b="1" dirty="0" err="1"/>
              <a:t>capabilities</a:t>
            </a:r>
            <a:r>
              <a:rPr lang="pt-BR" b="1" dirty="0"/>
              <a:t> do mesmo Agent Minhas Finanças</a:t>
            </a:r>
            <a:r>
              <a:rPr lang="pt-BR" dirty="0"/>
              <a:t>.</a:t>
            </a:r>
          </a:p>
          <a:p>
            <a:r>
              <a:rPr lang="pt-BR" dirty="0"/>
              <a:t>já tem espaço para evoluções como </a:t>
            </a:r>
            <a:r>
              <a:rPr lang="pt-BR" b="1" dirty="0"/>
              <a:t>planejamento financeiro</a:t>
            </a:r>
            <a:r>
              <a:rPr lang="pt-BR" dirty="0"/>
              <a:t> e </a:t>
            </a:r>
            <a:r>
              <a:rPr lang="pt-BR" b="1" dirty="0"/>
              <a:t>organização financeira</a:t>
            </a:r>
            <a:r>
              <a:rPr lang="pt-BR" dirty="0"/>
              <a:t>.</a:t>
            </a:r>
          </a:p>
          <a:p>
            <a:r>
              <a:rPr lang="pt-BR" b="1" dirty="0"/>
              <a:t>o Agent mantém a identidade e o objetivo; as </a:t>
            </a:r>
            <a:r>
              <a:rPr lang="pt-BR" b="1" dirty="0" err="1"/>
              <a:t>capabilities</a:t>
            </a:r>
            <a:r>
              <a:rPr lang="pt-BR" b="1" dirty="0"/>
              <a:t> evoluem conforme a jornada do cliente evolui.</a:t>
            </a:r>
            <a:endParaRPr lang="pt-BR" dirty="0"/>
          </a:p>
          <a:p>
            <a:endParaRPr lang="pt-BR" dirty="0"/>
          </a:p>
          <a:p>
            <a:r>
              <a:rPr lang="pt-BR" dirty="0"/>
              <a:t>--</a:t>
            </a:r>
          </a:p>
          <a:p>
            <a:endParaRPr lang="pt-BR" dirty="0"/>
          </a:p>
          <a:p>
            <a:r>
              <a:rPr lang="pt-BR" dirty="0"/>
              <a:t>se a gente pode continuar adicionando </a:t>
            </a:r>
            <a:r>
              <a:rPr lang="pt-BR" dirty="0" err="1"/>
              <a:t>capabilities</a:t>
            </a:r>
            <a:r>
              <a:rPr lang="pt-BR" dirty="0"/>
              <a:t>, </a:t>
            </a:r>
            <a:r>
              <a:rPr lang="pt-BR" b="1" dirty="0"/>
              <a:t>por que não colocar tudo dentro de um único Agent do Banco?</a:t>
            </a:r>
            <a:endParaRPr lang="pt-BR" dirty="0"/>
          </a:p>
          <a:p>
            <a:r>
              <a:rPr lang="pt-BR" dirty="0"/>
              <a:t>É aí que entra o conceito de limites — os </a:t>
            </a:r>
            <a:r>
              <a:rPr lang="pt-BR" dirty="0" err="1"/>
              <a:t>boundaries</a:t>
            </a:r>
            <a:r>
              <a:rPr lang="pt-BR" dirty="0"/>
              <a:t>.”</a:t>
            </a:r>
          </a:p>
          <a:p>
            <a:r>
              <a:rPr lang="pt-BR" dirty="0"/>
              <a:t>A separação passa a fazer sentido quando a complexidade começa a prejudicar instruções, seleção de ferramentas ou manutenção do sistema. </a:t>
            </a:r>
          </a:p>
        </p:txBody>
      </p:sp>
    </p:spTree>
    <p:extLst>
      <p:ext uri="{BB962C8B-B14F-4D97-AF65-F5344CB8AC3E}">
        <p14:creationId xmlns:p14="http://schemas.microsoft.com/office/powerpoint/2010/main" val="2739161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C10F-F348-FDF2-0503-9C99EDC4E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BDF43-C002-7ECE-497F-909D89239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1D73F-6244-41ED-1A87-BF144AFF0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E69B8-C4B5-141D-20D6-52CDC9FC6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41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7DC72-E34D-63A6-7BB7-99385666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BD715-1A29-E55F-F6F1-FA39D24BE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9FD4E-D1AF-E488-A57B-55B4B6CE9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FCB30-95BD-F9E8-BEFC-22D0A05E8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1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7289-04AD-07B4-29AA-6D208CCE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FCD17-1DA3-2A74-4812-366FF2F44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71F88-A3BA-56B9-179E-D57887B1B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6993A-7B1A-6F65-F04B-2B1DFD3FB0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11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DC29D-9816-C272-D7DD-F3B360A7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1DB9D-5A3A-F006-5853-8050836DD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31A2B-E03C-39C2-7DAD-E4E594D36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C41BB-3EE8-482E-5B63-1EA5530D1F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9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1EA78-A774-48E0-6020-B5FA29E1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A6BCD-C0F7-4ED5-5611-421E230A9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1F717-BE54-4C45-1752-4B94352CA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69F73-05FD-11DB-9ADD-2C3FE39F5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56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23FF-F47F-D900-3A9C-3F8E7469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5A2D6-3CEA-C36D-E22A-1BB330B0F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C87C3-59F3-E762-051D-FE88773E7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25F7C-A40C-567C-9997-2BF4113F90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65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DCD5-F132-E895-05BE-03FE5B81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7DC11-47D8-DBD3-9222-C93899EC8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D9A60-501B-9863-8625-4887A893A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8D6A5-AB61-9C75-BD5F-1806D3C7C7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84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DD67B-CB46-4E2F-E5C1-82D46F37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23716-459A-FA20-AC13-2F9659FFA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5F82B-4C6B-4F06-1835-9BB6DAA0F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A4168-CEA1-DCF3-1F91-77A0CDAB4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32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CF248-0166-8BC2-C45C-49BC2CC04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3F138-A70C-4E1E-5927-28CBB0964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A8B57-6AB7-3112-B1CC-0DCD21639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04C44-31FE-1208-39DC-3B1B7AFA0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14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63FD3-5654-9E73-CAA9-8C9ACE84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6F4D7-ED33-AD7B-48A8-36FF27968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9E74F-5A15-7299-B09A-D0D8AAFD0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222D1-A323-6803-0CE5-78EA8F9C5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40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1D2B3-1E5B-A9BF-313C-AD9A2728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82E6B-129D-8ECB-53FA-EB97505B5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4D672-A054-DD57-49CA-A8EB151DF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2EE6F-5D25-1B74-267C-EDA52EDF30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29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C901C-8FCC-9415-D0D1-7EA88748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EA513-F982-6C2B-22D5-60B25071C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BFD05-6DEC-156D-5448-A40C138F2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64A22-C485-1986-49E2-64A960211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02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6C26E-F6EC-6562-0398-D47472441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6F6C3-F1BD-1671-9196-CD33F9E23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0D96C-531F-9AC3-E827-63693855A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01861-FFB6-4EA5-0A02-1ABD0B6C7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818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7350-D6DE-677B-35E5-15FE4E92F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F74FF-19E6-C774-E687-682031512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AACE3-C802-DA0B-2EC7-903D01D59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E672F-D751-8B7A-8116-889C8B3B9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16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1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ank canvas">
            <a:extLst>
              <a:ext uri="{FF2B5EF4-FFF2-40B4-BE49-F238E27FC236}">
                <a16:creationId xmlns:a16="http://schemas.microsoft.com/office/drawing/2014/main" id="{B3337C1C-EAB3-48C0-86DB-B45CD41CB3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07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6700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100" b="1" i="0" kern="0" spc="35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01 · QUEM DECIDE COMO RESOLVER?</a:t>
            </a:r>
            <a:endParaRPr lang="en-US" sz="1100" b="1" i="0" spc="35" dirty="0">
              <a:solidFill>
                <a:srgbClr val="315C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581025"/>
            <a:ext cx="10972800" cy="48577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Workflow </a:t>
            </a:r>
            <a:r>
              <a:rPr lang="en-US" sz="28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ou</a:t>
            </a:r>
            <a:r>
              <a:rPr lang="en-US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8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</a:t>
            </a:r>
            <a:endParaRPr lang="en-US"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200150"/>
            <a:ext cx="5410200" cy="5372100"/>
          </a:xfrm>
          <a:prstGeom prst="roundRect">
            <a:avLst>
              <a:gd name="adj" fmla="val 1555"/>
            </a:avLst>
          </a:prstGeom>
          <a:solidFill>
            <a:srgbClr val="FFFFFF"/>
          </a:solidFill>
          <a:ln w="9525">
            <a:solidFill>
              <a:srgbClr val="CDD7E8"/>
            </a:solidFill>
            <a:prstDash val="solid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5" name="Shape 3"/>
          <p:cNvSpPr/>
          <p:nvPr/>
        </p:nvSpPr>
        <p:spPr>
          <a:xfrm>
            <a:off x="6172200" y="1200150"/>
            <a:ext cx="5410200" cy="5372100"/>
          </a:xfrm>
          <a:prstGeom prst="roundRect">
            <a:avLst>
              <a:gd name="adj" fmla="val 155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/>
          <a:lstStyle/>
          <a:p>
            <a:endParaRPr lang="pt-BR" b="0" i="0" dirty="0"/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C48CC692-8AF5-3F00-8F03-E8B70BFD678E}"/>
              </a:ext>
            </a:extLst>
          </p:cNvPr>
          <p:cNvGrpSpPr/>
          <p:nvPr/>
        </p:nvGrpSpPr>
        <p:grpSpPr>
          <a:xfrm>
            <a:off x="612000" y="1136975"/>
            <a:ext cx="1216152" cy="310896"/>
            <a:chOff x="786384" y="1481328"/>
            <a:chExt cx="1216152" cy="310896"/>
          </a:xfrm>
        </p:grpSpPr>
        <p:sp>
          <p:nvSpPr>
            <p:cNvPr id="6" name="Shape 4"/>
            <p:cNvSpPr/>
            <p:nvPr/>
          </p:nvSpPr>
          <p:spPr>
            <a:xfrm>
              <a:off x="936384" y="1677853"/>
              <a:ext cx="1219200" cy="304800"/>
            </a:xfrm>
            <a:prstGeom prst="roundRect">
              <a:avLst>
                <a:gd name="adj" fmla="val 24510"/>
              </a:avLst>
            </a:prstGeom>
            <a:solidFill>
              <a:srgbClr val="F5F7FA"/>
            </a:solidFill>
            <a:ln w="9525">
              <a:noFill/>
              <a:prstDash val="solid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7" name="Text 5"/>
            <p:cNvSpPr/>
            <p:nvPr/>
          </p:nvSpPr>
          <p:spPr>
            <a:xfrm>
              <a:off x="936384" y="1677853"/>
              <a:ext cx="1219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WORKFLOW</a:t>
              </a:r>
            </a:p>
          </p:txBody>
        </p:sp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0FC1A117-E27C-7C09-DA70-2098D7AD0896}"/>
              </a:ext>
            </a:extLst>
          </p:cNvPr>
          <p:cNvGrpSpPr/>
          <p:nvPr/>
        </p:nvGrpSpPr>
        <p:grpSpPr>
          <a:xfrm>
            <a:off x="6300000" y="1136973"/>
            <a:ext cx="1232952" cy="310896"/>
            <a:chOff x="3364653" y="1261872"/>
            <a:chExt cx="1075357" cy="310896"/>
          </a:xfrm>
        </p:grpSpPr>
        <p:sp>
          <p:nvSpPr>
            <p:cNvPr id="8" name="Shape 6"/>
            <p:cNvSpPr/>
            <p:nvPr/>
          </p:nvSpPr>
          <p:spPr>
            <a:xfrm>
              <a:off x="3386109" y="1458399"/>
              <a:ext cx="1063363" cy="304800"/>
            </a:xfrm>
            <a:prstGeom prst="roundRect">
              <a:avLst>
                <a:gd name="adj" fmla="val 24510"/>
              </a:avLst>
            </a:prstGeom>
            <a:solidFill>
              <a:srgbClr val="315CD8"/>
            </a:solidFill>
            <a:ln w="9525">
              <a:noFill/>
              <a:prstDash val="solid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9" name="Text 7"/>
            <p:cNvSpPr/>
            <p:nvPr/>
          </p:nvSpPr>
          <p:spPr>
            <a:xfrm>
              <a:off x="3386109" y="1458399"/>
              <a:ext cx="106336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i="0" dirty="0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AGENTE</a:t>
              </a:r>
            </a:p>
          </p:txBody>
        </p:sp>
      </p:grpSp>
      <p:sp>
        <p:nvSpPr>
          <p:cNvPr id="10" name="Text 8"/>
          <p:cNvSpPr/>
          <p:nvPr/>
        </p:nvSpPr>
        <p:spPr>
          <a:xfrm>
            <a:off x="762000" y="1676400"/>
            <a:ext cx="5105400" cy="4191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400" b="0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“Quanto gastei com alimentação?”</a:t>
            </a:r>
          </a:p>
        </p:txBody>
      </p: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9A58F443-6D0C-6DAA-4B7D-5498D7903248}"/>
              </a:ext>
            </a:extLst>
          </p:cNvPr>
          <p:cNvGrpSpPr/>
          <p:nvPr/>
        </p:nvGrpSpPr>
        <p:grpSpPr>
          <a:xfrm>
            <a:off x="2340864" y="2474188"/>
            <a:ext cx="1874520" cy="2523744"/>
            <a:chOff x="2286000" y="2468880"/>
            <a:chExt cx="1874520" cy="2523744"/>
          </a:xfrm>
        </p:grpSpPr>
        <p:sp>
          <p:nvSpPr>
            <p:cNvPr id="11" name="Shape 9"/>
            <p:cNvSpPr/>
            <p:nvPr/>
          </p:nvSpPr>
          <p:spPr>
            <a:xfrm>
              <a:off x="2326386" y="2471192"/>
              <a:ext cx="1866900" cy="381000"/>
            </a:xfrm>
            <a:prstGeom prst="roundRect">
              <a:avLst>
                <a:gd name="adj" fmla="val 17500"/>
              </a:avLst>
            </a:prstGeom>
            <a:solidFill>
              <a:srgbClr val="F5F7FA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402586" y="2490242"/>
              <a:ext cx="17145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ENTRADA</a:t>
              </a:r>
            </a:p>
          </p:txBody>
        </p:sp>
        <p:sp>
          <p:nvSpPr>
            <p:cNvPr id="13" name="Shape 11"/>
            <p:cNvSpPr/>
            <p:nvPr/>
          </p:nvSpPr>
          <p:spPr>
            <a:xfrm>
              <a:off x="3259836" y="2852192"/>
              <a:ext cx="0" cy="152400"/>
            </a:xfrm>
            <a:prstGeom prst="line">
              <a:avLst/>
            </a:prstGeom>
            <a:noFill/>
            <a:ln w="13335">
              <a:solidFill>
                <a:srgbClr val="8293A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326386" y="3004592"/>
              <a:ext cx="1866900" cy="381000"/>
            </a:xfrm>
            <a:prstGeom prst="roundRect">
              <a:avLst>
                <a:gd name="adj" fmla="val 17500"/>
              </a:avLst>
            </a:prstGeom>
            <a:solidFill>
              <a:srgbClr val="F5F7FA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402586" y="3023642"/>
              <a:ext cx="17145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PASSO A</a:t>
              </a:r>
            </a:p>
          </p:txBody>
        </p:sp>
        <p:sp>
          <p:nvSpPr>
            <p:cNvPr id="16" name="Shape 14"/>
            <p:cNvSpPr/>
            <p:nvPr/>
          </p:nvSpPr>
          <p:spPr>
            <a:xfrm>
              <a:off x="3259836" y="3385592"/>
              <a:ext cx="0" cy="152400"/>
            </a:xfrm>
            <a:prstGeom prst="line">
              <a:avLst/>
            </a:prstGeom>
            <a:noFill/>
            <a:ln w="13335">
              <a:solidFill>
                <a:srgbClr val="8293A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2326386" y="3537992"/>
              <a:ext cx="1866900" cy="381000"/>
            </a:xfrm>
            <a:prstGeom prst="roundRect">
              <a:avLst>
                <a:gd name="adj" fmla="val 17500"/>
              </a:avLst>
            </a:prstGeom>
            <a:solidFill>
              <a:srgbClr val="F5F7FA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402586" y="3557042"/>
              <a:ext cx="17145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PASSO B</a:t>
              </a:r>
            </a:p>
          </p:txBody>
        </p:sp>
        <p:sp>
          <p:nvSpPr>
            <p:cNvPr id="19" name="Shape 17"/>
            <p:cNvSpPr/>
            <p:nvPr/>
          </p:nvSpPr>
          <p:spPr>
            <a:xfrm>
              <a:off x="3259836" y="3918992"/>
              <a:ext cx="0" cy="152400"/>
            </a:xfrm>
            <a:prstGeom prst="line">
              <a:avLst/>
            </a:prstGeom>
            <a:noFill/>
            <a:ln w="13335">
              <a:solidFill>
                <a:srgbClr val="8293A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259836" y="4452392"/>
              <a:ext cx="0" cy="152400"/>
            </a:xfrm>
            <a:prstGeom prst="line">
              <a:avLst/>
            </a:prstGeom>
            <a:noFill/>
            <a:ln w="13335">
              <a:solidFill>
                <a:srgbClr val="8293A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326386" y="4604792"/>
              <a:ext cx="1866900" cy="381000"/>
            </a:xfrm>
            <a:prstGeom prst="roundRect">
              <a:avLst>
                <a:gd name="adj" fmla="val 17500"/>
              </a:avLst>
            </a:prstGeom>
            <a:solidFill>
              <a:srgbClr val="F1F4FC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402586" y="4623842"/>
              <a:ext cx="17145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RESPOSTA</a:t>
              </a:r>
            </a:p>
          </p:txBody>
        </p:sp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E50856AD-DC82-9C43-CF9F-18F76C4730D6}"/>
              </a:ext>
            </a:extLst>
          </p:cNvPr>
          <p:cNvGrpSpPr/>
          <p:nvPr/>
        </p:nvGrpSpPr>
        <p:grpSpPr>
          <a:xfrm>
            <a:off x="896112" y="5812856"/>
            <a:ext cx="4919472" cy="713232"/>
            <a:chOff x="804672" y="5513832"/>
            <a:chExt cx="4919472" cy="713232"/>
          </a:xfrm>
        </p:grpSpPr>
        <p:sp>
          <p:nvSpPr>
            <p:cNvPr id="25" name="Shape 23"/>
            <p:cNvSpPr/>
            <p:nvPr/>
          </p:nvSpPr>
          <p:spPr>
            <a:xfrm>
              <a:off x="670560" y="5492176"/>
              <a:ext cx="5105400" cy="628650"/>
            </a:xfrm>
            <a:prstGeom prst="roundRect">
              <a:avLst>
                <a:gd name="adj" fmla="val 9348"/>
              </a:avLst>
            </a:prstGeom>
            <a:solidFill>
              <a:srgbClr val="F5F7FA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/>
            <a:lstStyle/>
            <a:p>
              <a:endParaRPr lang="pt-BR" b="0" i="0" dirty="0"/>
            </a:p>
          </p:txBody>
        </p:sp>
        <p:grpSp>
          <p:nvGrpSpPr>
            <p:cNvPr id="70" name="Agrupar 69">
              <a:extLst>
                <a:ext uri="{FF2B5EF4-FFF2-40B4-BE49-F238E27FC236}">
                  <a16:creationId xmlns:a16="http://schemas.microsoft.com/office/drawing/2014/main" id="{98121C5B-19E8-019B-34D9-0F10469DFF45}"/>
                </a:ext>
              </a:extLst>
            </p:cNvPr>
            <p:cNvGrpSpPr/>
            <p:nvPr/>
          </p:nvGrpSpPr>
          <p:grpSpPr>
            <a:xfrm>
              <a:off x="896112" y="5698357"/>
              <a:ext cx="4736592" cy="393192"/>
              <a:chOff x="896112" y="5605272"/>
              <a:chExt cx="4736592" cy="393192"/>
            </a:xfrm>
          </p:grpSpPr>
          <p:sp>
            <p:nvSpPr>
              <p:cNvPr id="26" name="Text 24"/>
              <p:cNvSpPr/>
              <p:nvPr/>
            </p:nvSpPr>
            <p:spPr>
              <a:xfrm>
                <a:off x="784860" y="5456241"/>
                <a:ext cx="4876800" cy="2095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5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 FLUXO DE EXECUÇÃO É PRÉ-DEFINIDO</a:t>
                </a:r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784860" y="5684841"/>
                <a:ext cx="48768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US" sz="1150" b="1" i="0" dirty="0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O MODELO INTERPRETA E RESPONDE</a:t>
                </a:r>
              </a:p>
            </p:txBody>
          </p:sp>
        </p:grpSp>
      </p:grpSp>
      <p:sp>
        <p:nvSpPr>
          <p:cNvPr id="29" name="Text 27"/>
          <p:cNvSpPr/>
          <p:nvPr/>
        </p:nvSpPr>
        <p:spPr>
          <a:xfrm>
            <a:off x="6324600" y="1657350"/>
            <a:ext cx="5105400" cy="4191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300" b="0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“Quanto gastei com alimentação, onde vejo esse </a:t>
            </a:r>
            <a:r>
              <a:rPr lang="en-US" sz="1300" b="0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gasto</a:t>
            </a:r>
            <a:r>
              <a:rPr lang="en-US" sz="1300" b="0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br>
              <a:rPr lang="en-US" sz="1300" b="0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</a:br>
            <a:r>
              <a:rPr lang="en-US" sz="1300" b="0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e como posso gastar menos?”</a:t>
            </a:r>
          </a:p>
        </p:txBody>
      </p: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09CF4803-53C5-A396-A617-064BEC7F5137}"/>
              </a:ext>
            </a:extLst>
          </p:cNvPr>
          <p:cNvGrpSpPr/>
          <p:nvPr/>
        </p:nvGrpSpPr>
        <p:grpSpPr>
          <a:xfrm>
            <a:off x="6970904" y="2161505"/>
            <a:ext cx="4023360" cy="3385681"/>
            <a:chOff x="6970904" y="1660574"/>
            <a:chExt cx="4023360" cy="3385681"/>
          </a:xfrm>
        </p:grpSpPr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id="{986AFAB2-BA79-00B3-BE65-B43DEC4CAED6}"/>
                </a:ext>
              </a:extLst>
            </p:cNvPr>
            <p:cNvGrpSpPr/>
            <p:nvPr/>
          </p:nvGrpSpPr>
          <p:grpSpPr>
            <a:xfrm>
              <a:off x="8238744" y="1660574"/>
              <a:ext cx="1481328" cy="347472"/>
              <a:chOff x="8238744" y="1922965"/>
              <a:chExt cx="1481328" cy="347472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8134350" y="1923635"/>
                <a:ext cx="1524000" cy="352425"/>
              </a:xfrm>
              <a:prstGeom prst="roundRect">
                <a:avLst>
                  <a:gd name="adj" fmla="val 19189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8210550" y="1942685"/>
                <a:ext cx="1371600" cy="314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OBJETIVO</a:t>
                </a:r>
              </a:p>
            </p:txBody>
          </p:sp>
        </p:grpSp>
        <p:sp>
          <p:nvSpPr>
            <p:cNvPr id="32" name="Shape 30"/>
            <p:cNvSpPr/>
            <p:nvPr/>
          </p:nvSpPr>
          <p:spPr>
            <a:xfrm>
              <a:off x="8896350" y="2013669"/>
              <a:ext cx="0" cy="180975"/>
            </a:xfrm>
            <a:prstGeom prst="line">
              <a:avLst/>
            </a:prstGeom>
            <a:noFill/>
            <a:ln w="9525">
              <a:solidFill>
                <a:srgbClr val="8293A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 b="0" i="0"/>
            </a:p>
          </p:txBody>
        </p:sp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7B8A8800-93EC-2EF2-D2C8-37C7FDC76C88}"/>
                </a:ext>
              </a:extLst>
            </p:cNvPr>
            <p:cNvGrpSpPr/>
            <p:nvPr/>
          </p:nvGrpSpPr>
          <p:grpSpPr>
            <a:xfrm>
              <a:off x="8238745" y="2194272"/>
              <a:ext cx="1518911" cy="421878"/>
              <a:chOff x="8238745" y="2194272"/>
              <a:chExt cx="1518911" cy="421878"/>
            </a:xfrm>
          </p:grpSpPr>
          <p:sp>
            <p:nvSpPr>
              <p:cNvPr id="33" name="Shape 31"/>
              <p:cNvSpPr/>
              <p:nvPr/>
            </p:nvSpPr>
            <p:spPr>
              <a:xfrm>
                <a:off x="8134350" y="2194644"/>
                <a:ext cx="1524000" cy="428625"/>
              </a:xfrm>
              <a:prstGeom prst="roundRect">
                <a:avLst>
                  <a:gd name="adj" fmla="val 15804"/>
                </a:avLst>
              </a:prstGeom>
              <a:solidFill>
                <a:srgbClr val="F1F4FC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8210550" y="2223219"/>
                <a:ext cx="1371600" cy="2095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300" b="1" i="0" dirty="0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MODELO</a:t>
                </a:r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8191500" y="2423244"/>
                <a:ext cx="1409700" cy="1714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90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“o </a:t>
                </a:r>
                <a:r>
                  <a:rPr lang="en-US" sz="90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que</a:t>
                </a:r>
                <a:r>
                  <a:rPr lang="en-US" sz="90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 </a:t>
                </a:r>
                <a:r>
                  <a:rPr lang="en-US" sz="90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faço</a:t>
                </a:r>
                <a:r>
                  <a:rPr lang="en-US" sz="90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 agora?”</a:t>
                </a:r>
              </a:p>
            </p:txBody>
          </p:sp>
        </p:grpSp>
        <p:grpSp>
          <p:nvGrpSpPr>
            <p:cNvPr id="79" name="Agrupar 78">
              <a:extLst>
                <a:ext uri="{FF2B5EF4-FFF2-40B4-BE49-F238E27FC236}">
                  <a16:creationId xmlns:a16="http://schemas.microsoft.com/office/drawing/2014/main" id="{ECCD9730-2A34-6234-DD54-11ECB69DF95A}"/>
                </a:ext>
              </a:extLst>
            </p:cNvPr>
            <p:cNvGrpSpPr/>
            <p:nvPr/>
          </p:nvGrpSpPr>
          <p:grpSpPr>
            <a:xfrm>
              <a:off x="7478396" y="2702407"/>
              <a:ext cx="3008376" cy="155448"/>
              <a:chOff x="7376414" y="3093397"/>
              <a:chExt cx="3008376" cy="155448"/>
            </a:xfrm>
          </p:grpSpPr>
          <p:sp>
            <p:nvSpPr>
              <p:cNvPr id="37" name="Shape 35"/>
              <p:cNvSpPr/>
              <p:nvPr/>
            </p:nvSpPr>
            <p:spPr>
              <a:xfrm>
                <a:off x="7295133" y="3093317"/>
                <a:ext cx="2998470" cy="0"/>
              </a:xfrm>
              <a:prstGeom prst="line">
                <a:avLst/>
              </a:prstGeom>
              <a:noFill/>
              <a:ln w="9525">
                <a:solidFill>
                  <a:srgbClr val="8293AB"/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pt-BR" b="0" i="0" dirty="0"/>
              </a:p>
            </p:txBody>
          </p:sp>
          <p:sp>
            <p:nvSpPr>
              <p:cNvPr id="38" name="Shape 36"/>
              <p:cNvSpPr/>
              <p:nvPr/>
            </p:nvSpPr>
            <p:spPr>
              <a:xfrm>
                <a:off x="7295133" y="3093317"/>
                <a:ext cx="0" cy="165735"/>
              </a:xfrm>
              <a:prstGeom prst="line">
                <a:avLst/>
              </a:prstGeom>
              <a:noFill/>
              <a:ln w="9525">
                <a:solidFill>
                  <a:srgbClr val="8293AB"/>
                </a:solidFill>
                <a:prstDash val="solid"/>
                <a:headEnd type="none"/>
                <a:tailEnd type="triangle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41" name="Shape 39"/>
              <p:cNvSpPr/>
              <p:nvPr/>
            </p:nvSpPr>
            <p:spPr>
              <a:xfrm>
                <a:off x="8794368" y="3093317"/>
                <a:ext cx="0" cy="165735"/>
              </a:xfrm>
              <a:prstGeom prst="line">
                <a:avLst/>
              </a:prstGeom>
              <a:noFill/>
              <a:ln w="9525">
                <a:solidFill>
                  <a:srgbClr val="8293AB"/>
                </a:solidFill>
                <a:prstDash val="solid"/>
                <a:headEnd type="none"/>
                <a:tailEnd type="triangle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44" name="Shape 42"/>
              <p:cNvSpPr/>
              <p:nvPr/>
            </p:nvSpPr>
            <p:spPr>
              <a:xfrm>
                <a:off x="10293603" y="3093317"/>
                <a:ext cx="0" cy="165735"/>
              </a:xfrm>
              <a:prstGeom prst="line">
                <a:avLst/>
              </a:prstGeom>
              <a:noFill/>
              <a:ln w="9525">
                <a:solidFill>
                  <a:srgbClr val="8293AB"/>
                </a:solidFill>
                <a:prstDash val="solid"/>
                <a:headEnd type="none"/>
                <a:tailEnd type="triangle"/>
              </a:ln>
            </p:spPr>
            <p:txBody>
              <a:bodyPr/>
              <a:lstStyle/>
              <a:p>
                <a:endParaRPr lang="pt-BR" b="0" i="0"/>
              </a:p>
            </p:txBody>
          </p:sp>
        </p:grpSp>
        <p:grpSp>
          <p:nvGrpSpPr>
            <p:cNvPr id="80" name="Agrupar 79">
              <a:extLst>
                <a:ext uri="{FF2B5EF4-FFF2-40B4-BE49-F238E27FC236}">
                  <a16:creationId xmlns:a16="http://schemas.microsoft.com/office/drawing/2014/main" id="{FAD218F5-1FEE-12C0-B449-16AE1CD1FFB6}"/>
                </a:ext>
              </a:extLst>
            </p:cNvPr>
            <p:cNvGrpSpPr/>
            <p:nvPr/>
          </p:nvGrpSpPr>
          <p:grpSpPr>
            <a:xfrm>
              <a:off x="6970904" y="2905945"/>
              <a:ext cx="4023360" cy="329184"/>
              <a:chOff x="6867144" y="3257989"/>
              <a:chExt cx="4023360" cy="329184"/>
            </a:xfrm>
          </p:grpSpPr>
          <p:sp>
            <p:nvSpPr>
              <p:cNvPr id="39" name="Shape 37"/>
              <p:cNvSpPr/>
              <p:nvPr/>
            </p:nvSpPr>
            <p:spPr>
              <a:xfrm>
                <a:off x="6780743" y="3257989"/>
                <a:ext cx="1024128" cy="329184"/>
              </a:xfrm>
              <a:prstGeom prst="roundRect">
                <a:avLst>
                  <a:gd name="adj" fmla="val 20255"/>
                </a:avLst>
              </a:prstGeom>
              <a:solidFill>
                <a:srgbClr val="F1F4FC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6853895" y="3276277"/>
                <a:ext cx="877824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00" b="1" i="0" dirty="0" err="1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Capacidade</a:t>
                </a:r>
                <a:r>
                  <a:rPr lang="en-US" sz="1100" b="1" i="0" dirty="0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 A</a:t>
                </a:r>
              </a:p>
            </p:txBody>
          </p:sp>
          <p:sp>
            <p:nvSpPr>
              <p:cNvPr id="42" name="Shape 40"/>
              <p:cNvSpPr/>
              <p:nvPr/>
            </p:nvSpPr>
            <p:spPr>
              <a:xfrm>
                <a:off x="8280359" y="3257989"/>
                <a:ext cx="1024128" cy="329184"/>
              </a:xfrm>
              <a:prstGeom prst="roundRect">
                <a:avLst>
                  <a:gd name="adj" fmla="val 20255"/>
                </a:avLst>
              </a:prstGeom>
              <a:solidFill>
                <a:srgbClr val="F1F4FC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8353511" y="3276277"/>
                <a:ext cx="877824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US" sz="1100" b="1" i="0" dirty="0" err="1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Capacidade</a:t>
                </a:r>
                <a:r>
                  <a:rPr lang="en-US" sz="1100" b="1" i="0" dirty="0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 B</a:t>
                </a:r>
              </a:p>
            </p:txBody>
          </p:sp>
          <p:sp>
            <p:nvSpPr>
              <p:cNvPr id="45" name="Shape 43"/>
              <p:cNvSpPr/>
              <p:nvPr/>
            </p:nvSpPr>
            <p:spPr>
              <a:xfrm>
                <a:off x="9779975" y="3257989"/>
                <a:ext cx="1024128" cy="329184"/>
              </a:xfrm>
              <a:prstGeom prst="roundRect">
                <a:avLst>
                  <a:gd name="adj" fmla="val 20255"/>
                </a:avLst>
              </a:prstGeom>
              <a:solidFill>
                <a:srgbClr val="F1F4FC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46" name="Text 44"/>
              <p:cNvSpPr/>
              <p:nvPr/>
            </p:nvSpPr>
            <p:spPr>
              <a:xfrm>
                <a:off x="9853127" y="3276277"/>
                <a:ext cx="877824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US" sz="1100" b="1" i="0" dirty="0" err="1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Capacidade</a:t>
                </a:r>
                <a:r>
                  <a:rPr lang="en-US" sz="1100" b="1" i="0" dirty="0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 C</a:t>
                </a:r>
              </a:p>
            </p:txBody>
          </p:sp>
        </p:grpSp>
        <p:sp>
          <p:nvSpPr>
            <p:cNvPr id="49" name="Shape 47"/>
            <p:cNvSpPr/>
            <p:nvPr/>
          </p:nvSpPr>
          <p:spPr>
            <a:xfrm>
              <a:off x="8896350" y="2626591"/>
              <a:ext cx="0" cy="72000"/>
            </a:xfrm>
            <a:prstGeom prst="line">
              <a:avLst/>
            </a:prstGeom>
            <a:noFill/>
            <a:ln w="9525">
              <a:solidFill>
                <a:srgbClr val="8293AB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pt-BR" b="0" i="0" dirty="0"/>
            </a:p>
          </p:txBody>
        </p:sp>
        <p:grpSp>
          <p:nvGrpSpPr>
            <p:cNvPr id="81" name="Agrupar 80">
              <a:extLst>
                <a:ext uri="{FF2B5EF4-FFF2-40B4-BE49-F238E27FC236}">
                  <a16:creationId xmlns:a16="http://schemas.microsoft.com/office/drawing/2014/main" id="{7410F287-7855-14A9-64DB-8D225452BFD9}"/>
                </a:ext>
              </a:extLst>
            </p:cNvPr>
            <p:cNvGrpSpPr/>
            <p:nvPr/>
          </p:nvGrpSpPr>
          <p:grpSpPr>
            <a:xfrm>
              <a:off x="7481571" y="3261330"/>
              <a:ext cx="2999232" cy="308592"/>
              <a:chOff x="7379208" y="3587173"/>
              <a:chExt cx="2999232" cy="308592"/>
            </a:xfrm>
          </p:grpSpPr>
          <p:sp>
            <p:nvSpPr>
              <p:cNvPr id="47" name="Shape 45"/>
              <p:cNvSpPr/>
              <p:nvPr/>
            </p:nvSpPr>
            <p:spPr>
              <a:xfrm>
                <a:off x="7294752" y="3752070"/>
                <a:ext cx="2998470" cy="0"/>
              </a:xfrm>
              <a:prstGeom prst="line">
                <a:avLst/>
              </a:prstGeom>
              <a:noFill/>
              <a:ln w="9525">
                <a:solidFill>
                  <a:srgbClr val="8293AB"/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48" name="Shape 46"/>
              <p:cNvSpPr/>
              <p:nvPr/>
            </p:nvSpPr>
            <p:spPr>
              <a:xfrm>
                <a:off x="7294752" y="3599670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8293AB"/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50" name="Shape 48"/>
              <p:cNvSpPr/>
              <p:nvPr/>
            </p:nvSpPr>
            <p:spPr>
              <a:xfrm>
                <a:off x="10293222" y="3599670"/>
                <a:ext cx="0" cy="152400"/>
              </a:xfrm>
              <a:prstGeom prst="line">
                <a:avLst/>
              </a:prstGeom>
              <a:noFill/>
              <a:ln w="9525">
                <a:solidFill>
                  <a:srgbClr val="8293AB"/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51" name="Shape 49"/>
              <p:cNvSpPr/>
              <p:nvPr/>
            </p:nvSpPr>
            <p:spPr>
              <a:xfrm>
                <a:off x="8793987" y="3752070"/>
                <a:ext cx="0" cy="140018"/>
              </a:xfrm>
              <a:prstGeom prst="line">
                <a:avLst/>
              </a:prstGeom>
              <a:noFill/>
              <a:ln w="9525">
                <a:solidFill>
                  <a:srgbClr val="8293AB"/>
                </a:solidFill>
                <a:prstDash val="solid"/>
                <a:headEnd type="none"/>
                <a:tailEnd type="triangle"/>
              </a:ln>
            </p:spPr>
            <p:txBody>
              <a:bodyPr/>
              <a:lstStyle/>
              <a:p>
                <a:endParaRPr lang="pt-BR" b="0" i="0"/>
              </a:p>
            </p:txBody>
          </p:sp>
        </p:grpSp>
        <p:sp>
          <p:nvSpPr>
            <p:cNvPr id="52" name="Shape 50"/>
            <p:cNvSpPr/>
            <p:nvPr/>
          </p:nvSpPr>
          <p:spPr>
            <a:xfrm>
              <a:off x="8134350" y="3604344"/>
              <a:ext cx="1524000" cy="419100"/>
            </a:xfrm>
            <a:prstGeom prst="roundRect">
              <a:avLst>
                <a:gd name="adj" fmla="val 16084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/>
            <a:lstStyle/>
            <a:p>
              <a:endParaRPr lang="pt-BR" b="0" i="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8210550" y="3632919"/>
              <a:ext cx="1371600" cy="180975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OBSERVA</a:t>
              </a:r>
            </a:p>
          </p:txBody>
        </p:sp>
        <p:sp>
          <p:nvSpPr>
            <p:cNvPr id="54" name="Text 52"/>
            <p:cNvSpPr/>
            <p:nvPr/>
          </p:nvSpPr>
          <p:spPr>
            <a:xfrm>
              <a:off x="8191500" y="3832944"/>
              <a:ext cx="1409700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9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que falta?”</a:t>
              </a:r>
            </a:p>
          </p:txBody>
        </p:sp>
        <p:sp>
          <p:nvSpPr>
            <p:cNvPr id="55" name="Shape 53"/>
            <p:cNvSpPr/>
            <p:nvPr/>
          </p:nvSpPr>
          <p:spPr>
            <a:xfrm>
              <a:off x="8896350" y="4061544"/>
              <a:ext cx="0" cy="104775"/>
            </a:xfrm>
            <a:prstGeom prst="line">
              <a:avLst/>
            </a:prstGeom>
            <a:noFill/>
            <a:ln w="9525">
              <a:solidFill>
                <a:srgbClr val="8293A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 b="0" i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7905750" y="4204419"/>
              <a:ext cx="1981200" cy="333375"/>
            </a:xfrm>
            <a:prstGeom prst="roundRect">
              <a:avLst>
                <a:gd name="adj" fmla="val 20255"/>
              </a:avLst>
            </a:prstGeom>
            <a:solidFill>
              <a:srgbClr val="F1F4FC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/>
            <a:lstStyle/>
            <a:p>
              <a:endParaRPr lang="pt-BR" b="0" i="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7981950" y="4223469"/>
              <a:ext cx="1828800" cy="295275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DECIDE NOVAMENTE</a:t>
              </a:r>
            </a:p>
          </p:txBody>
        </p:sp>
        <p:sp>
          <p:nvSpPr>
            <p:cNvPr id="58" name="Shape 56"/>
            <p:cNvSpPr/>
            <p:nvPr/>
          </p:nvSpPr>
          <p:spPr>
            <a:xfrm>
              <a:off x="8896350" y="4575894"/>
              <a:ext cx="0" cy="104775"/>
            </a:xfrm>
            <a:prstGeom prst="line">
              <a:avLst/>
            </a:prstGeom>
            <a:noFill/>
            <a:ln w="9525">
              <a:solidFill>
                <a:srgbClr val="8293A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 b="0" i="0" dirty="0"/>
            </a:p>
          </p:txBody>
        </p:sp>
        <p:grpSp>
          <p:nvGrpSpPr>
            <p:cNvPr id="82" name="Agrupar 81">
              <a:extLst>
                <a:ext uri="{FF2B5EF4-FFF2-40B4-BE49-F238E27FC236}">
                  <a16:creationId xmlns:a16="http://schemas.microsoft.com/office/drawing/2014/main" id="{1D678461-6B91-9718-DAD0-E9B0AC010E0E}"/>
                </a:ext>
              </a:extLst>
            </p:cNvPr>
            <p:cNvGrpSpPr/>
            <p:nvPr/>
          </p:nvGrpSpPr>
          <p:grpSpPr>
            <a:xfrm>
              <a:off x="8188516" y="4717071"/>
              <a:ext cx="1591056" cy="329184"/>
              <a:chOff x="8083296" y="4995349"/>
              <a:chExt cx="1591056" cy="329184"/>
            </a:xfrm>
          </p:grpSpPr>
          <p:sp>
            <p:nvSpPr>
              <p:cNvPr id="59" name="Shape 57"/>
              <p:cNvSpPr/>
              <p:nvPr/>
            </p:nvSpPr>
            <p:spPr>
              <a:xfrm>
                <a:off x="7991030" y="4997047"/>
                <a:ext cx="1600200" cy="333375"/>
              </a:xfrm>
              <a:prstGeom prst="roundRect">
                <a:avLst>
                  <a:gd name="adj" fmla="val 20255"/>
                </a:avLst>
              </a:prstGeom>
              <a:solidFill>
                <a:srgbClr val="F1F4FC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/>
              <a:lstStyle/>
              <a:p>
                <a:endParaRPr lang="pt-BR" b="0" i="0"/>
              </a:p>
            </p:txBody>
          </p:sp>
          <p:sp>
            <p:nvSpPr>
              <p:cNvPr id="60" name="Text 58"/>
              <p:cNvSpPr/>
              <p:nvPr/>
            </p:nvSpPr>
            <p:spPr>
              <a:xfrm>
                <a:off x="8067230" y="5016097"/>
                <a:ext cx="1447800" cy="2952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00" b="1" i="0" dirty="0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RESPOSTA</a:t>
                </a:r>
              </a:p>
            </p:txBody>
          </p:sp>
        </p:grp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8636898C-4453-133A-E06C-8BD8B15E414F}"/>
              </a:ext>
            </a:extLst>
          </p:cNvPr>
          <p:cNvGrpSpPr/>
          <p:nvPr/>
        </p:nvGrpSpPr>
        <p:grpSpPr>
          <a:xfrm>
            <a:off x="6510528" y="5810922"/>
            <a:ext cx="4937760" cy="713232"/>
            <a:chOff x="6510528" y="5142559"/>
            <a:chExt cx="4937760" cy="713232"/>
          </a:xfrm>
        </p:grpSpPr>
        <p:sp>
          <p:nvSpPr>
            <p:cNvPr id="61" name="Shape 59"/>
            <p:cNvSpPr/>
            <p:nvPr/>
          </p:nvSpPr>
          <p:spPr>
            <a:xfrm>
              <a:off x="6324600" y="5122837"/>
              <a:ext cx="5105400" cy="628650"/>
            </a:xfrm>
            <a:prstGeom prst="roundRect">
              <a:avLst>
                <a:gd name="adj" fmla="val 9348"/>
              </a:avLst>
            </a:prstGeom>
            <a:solidFill>
              <a:srgbClr val="F5F7FA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/>
            <a:lstStyle/>
            <a:p>
              <a:endParaRPr lang="pt-BR" b="0" i="0"/>
            </a:p>
          </p:txBody>
        </p:sp>
        <p:grpSp>
          <p:nvGrpSpPr>
            <p:cNvPr id="73" name="Agrupar 72">
              <a:extLst>
                <a:ext uri="{FF2B5EF4-FFF2-40B4-BE49-F238E27FC236}">
                  <a16:creationId xmlns:a16="http://schemas.microsoft.com/office/drawing/2014/main" id="{52DDBB7E-D733-A977-51EE-4E92A944628F}"/>
                </a:ext>
              </a:extLst>
            </p:cNvPr>
            <p:cNvGrpSpPr/>
            <p:nvPr/>
          </p:nvGrpSpPr>
          <p:grpSpPr>
            <a:xfrm>
              <a:off x="6601968" y="5233999"/>
              <a:ext cx="4754880" cy="594360"/>
              <a:chOff x="6537960" y="5998464"/>
              <a:chExt cx="4754880" cy="594360"/>
            </a:xfrm>
          </p:grpSpPr>
          <p:sp>
            <p:nvSpPr>
              <p:cNvPr id="62" name="Text 60"/>
              <p:cNvSpPr/>
              <p:nvPr/>
            </p:nvSpPr>
            <p:spPr>
              <a:xfrm>
                <a:off x="6374892" y="5944452"/>
                <a:ext cx="4876800" cy="2095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5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 FLUXO DE EXECUÇÃO É DINÂMICO</a:t>
                </a:r>
              </a:p>
            </p:txBody>
          </p:sp>
          <p:sp>
            <p:nvSpPr>
              <p:cNvPr id="63" name="Text 61"/>
              <p:cNvSpPr/>
              <p:nvPr/>
            </p:nvSpPr>
            <p:spPr>
              <a:xfrm>
                <a:off x="6374892" y="6173052"/>
                <a:ext cx="4876800" cy="304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50" b="1" i="0" dirty="0">
                    <a:solidFill>
                      <a:srgbClr val="315CD8"/>
                    </a:solidFill>
                    <a:latin typeface="Aptos"/>
                    <a:ea typeface="Aptos"/>
                    <a:cs typeface="Aptos"/>
                  </a:rPr>
                  <a:t>O MODELO DECIDE OS PRÓXIMOS PASSOS E AS CAPACIDADES NECESSÁRIAS</a:t>
                </a:r>
              </a:p>
            </p:txBody>
          </p:sp>
        </p:grpSp>
      </p:grpSp>
      <p:sp>
        <p:nvSpPr>
          <p:cNvPr id="91" name="Shape 21">
            <a:extLst>
              <a:ext uri="{FF2B5EF4-FFF2-40B4-BE49-F238E27FC236}">
                <a16:creationId xmlns:a16="http://schemas.microsoft.com/office/drawing/2014/main" id="{488C6413-B788-207C-7444-F7CE5E230833}"/>
              </a:ext>
            </a:extLst>
          </p:cNvPr>
          <p:cNvSpPr/>
          <p:nvPr/>
        </p:nvSpPr>
        <p:spPr>
          <a:xfrm>
            <a:off x="2381250" y="4076700"/>
            <a:ext cx="1866900" cy="381000"/>
          </a:xfrm>
          <a:prstGeom prst="roundRect">
            <a:avLst>
              <a:gd name="adj" fmla="val 17500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/>
          <a:lstStyle/>
          <a:p>
            <a:endParaRPr lang="pt-BR" b="0" i="0" dirty="0"/>
          </a:p>
        </p:txBody>
      </p:sp>
      <p:sp>
        <p:nvSpPr>
          <p:cNvPr id="93" name="Text 22">
            <a:extLst>
              <a:ext uri="{FF2B5EF4-FFF2-40B4-BE49-F238E27FC236}">
                <a16:creationId xmlns:a16="http://schemas.microsoft.com/office/drawing/2014/main" id="{A17941F3-BF0F-93E3-3761-77330AA9B6BA}"/>
              </a:ext>
            </a:extLst>
          </p:cNvPr>
          <p:cNvSpPr/>
          <p:nvPr/>
        </p:nvSpPr>
        <p:spPr>
          <a:xfrm>
            <a:off x="2457450" y="409575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66700"/>
            <a:ext cx="1066800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02 · QUAL PROBLEMA ESSE AGENT</a:t>
            </a:r>
            <a:r>
              <a:rPr lang="pt-BR" sz="1100" b="1" i="0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E</a:t>
            </a:r>
            <a:r>
              <a:rPr sz="1100" b="1" i="0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 EXISTE PARA RESOLVER?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81025"/>
            <a:ext cx="10972800" cy="518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O escopo do Minhas Finanças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05000" y="1426727"/>
            <a:ext cx="8382000" cy="1209675"/>
          </a:xfrm>
          <a:prstGeom prst="roundRect">
            <a:avLst>
              <a:gd name="adj" fmla="val 6944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5" name="TextBox 4"/>
          <p:cNvSpPr txBox="1"/>
          <p:nvPr/>
        </p:nvSpPr>
        <p:spPr>
          <a:xfrm>
            <a:off x="2209800" y="1560077"/>
            <a:ext cx="77724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b="1" i="0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MINHAS FINANÇAS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2200" y="1855352"/>
            <a:ext cx="74676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Ajudar</a:t>
            </a:r>
            <a:r>
              <a:rPr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o </a:t>
            </a:r>
            <a:r>
              <a:rPr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cliente</a:t>
            </a:r>
            <a:r>
              <a:rPr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a </a:t>
            </a:r>
            <a:r>
              <a:rPr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entender</a:t>
            </a:r>
            <a:r>
              <a:rPr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, </a:t>
            </a:r>
            <a:r>
              <a:rPr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planejar</a:t>
            </a:r>
            <a:r>
              <a:rPr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e </a:t>
            </a:r>
            <a:r>
              <a:rPr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administrar</a:t>
            </a:r>
            <a:r>
              <a:rPr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sua</a:t>
            </a:r>
            <a:r>
              <a:rPr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vida</a:t>
            </a:r>
            <a:r>
              <a:rPr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financeira</a:t>
            </a:r>
            <a:r>
              <a:rPr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0" y="2636402"/>
            <a:ext cx="0" cy="372428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36292" y="3009020"/>
            <a:ext cx="7534655" cy="0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36483" y="3008830"/>
            <a:ext cx="0" cy="96203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2288858" y="3105032"/>
            <a:ext cx="95250" cy="66675"/>
          </a:xfrm>
          <a:prstGeom prst="triangle">
            <a:avLst/>
          </a:prstGeom>
          <a:solidFill>
            <a:srgbClr val="828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11" name="Rounded Rectangle 10"/>
          <p:cNvSpPr/>
          <p:nvPr/>
        </p:nvSpPr>
        <p:spPr>
          <a:xfrm>
            <a:off x="1307592" y="3210188"/>
            <a:ext cx="2057400" cy="420624"/>
          </a:xfrm>
          <a:prstGeom prst="roundRect">
            <a:avLst>
              <a:gd name="adj" fmla="val 18116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12" name="TextBox 11"/>
          <p:cNvSpPr txBox="1"/>
          <p:nvPr/>
        </p:nvSpPr>
        <p:spPr>
          <a:xfrm>
            <a:off x="1307592" y="3267719"/>
            <a:ext cx="20574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ENTENDER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" y="3868556"/>
            <a:ext cx="27432" cy="1389888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14" name="TextBox 13"/>
          <p:cNvSpPr txBox="1"/>
          <p:nvPr/>
        </p:nvSpPr>
        <p:spPr>
          <a:xfrm>
            <a:off x="1124712" y="385026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gastos e transações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42343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categorias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61836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visão consolidada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500241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comportamento financeiro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0" y="3008830"/>
            <a:ext cx="0" cy="96203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6048375" y="3105032"/>
            <a:ext cx="95250" cy="66675"/>
          </a:xfrm>
          <a:prstGeom prst="triangle">
            <a:avLst/>
          </a:prstGeom>
          <a:solidFill>
            <a:srgbClr val="828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20" name="Rounded Rectangle 19"/>
          <p:cNvSpPr/>
          <p:nvPr/>
        </p:nvSpPr>
        <p:spPr>
          <a:xfrm>
            <a:off x="5067300" y="3210188"/>
            <a:ext cx="2057400" cy="420624"/>
          </a:xfrm>
          <a:prstGeom prst="roundRect">
            <a:avLst>
              <a:gd name="adj" fmla="val 18116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21" name="TextBox 20"/>
          <p:cNvSpPr txBox="1"/>
          <p:nvPr/>
        </p:nvSpPr>
        <p:spPr>
          <a:xfrm>
            <a:off x="5067300" y="3284220"/>
            <a:ext cx="20574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PLANEJAR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868556"/>
            <a:ext cx="27432" cy="1389888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23" name="TextBox 22"/>
          <p:cNvSpPr txBox="1"/>
          <p:nvPr/>
        </p:nvSpPr>
        <p:spPr>
          <a:xfrm>
            <a:off x="4892040" y="385026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orçamento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2343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limites de gastos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61836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metas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00241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objetivos financeiros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70758" y="3008830"/>
            <a:ext cx="0" cy="96203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0800000">
            <a:off x="9823133" y="3105032"/>
            <a:ext cx="95250" cy="66675"/>
          </a:xfrm>
          <a:prstGeom prst="triangle">
            <a:avLst/>
          </a:prstGeom>
          <a:solidFill>
            <a:srgbClr val="828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29" name="Rounded Rectangle 28"/>
          <p:cNvSpPr/>
          <p:nvPr/>
        </p:nvSpPr>
        <p:spPr>
          <a:xfrm>
            <a:off x="8842247" y="3210188"/>
            <a:ext cx="2057400" cy="420624"/>
          </a:xfrm>
          <a:prstGeom prst="roundRect">
            <a:avLst>
              <a:gd name="adj" fmla="val 18116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30" name="TextBox 29"/>
          <p:cNvSpPr txBox="1"/>
          <p:nvPr/>
        </p:nvSpPr>
        <p:spPr>
          <a:xfrm>
            <a:off x="8842247" y="3284220"/>
            <a:ext cx="20574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ADMINISTRAR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6487" y="3868556"/>
            <a:ext cx="27432" cy="1389888"/>
          </a:xfrm>
          <a:prstGeom prst="rect">
            <a:avLst/>
          </a:prstGeom>
          <a:solidFill>
            <a:srgbClr val="DC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32" name="TextBox 31"/>
          <p:cNvSpPr txBox="1"/>
          <p:nvPr/>
        </p:nvSpPr>
        <p:spPr>
          <a:xfrm>
            <a:off x="8659367" y="385026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agenda financeira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7" y="42343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vencimentos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7" y="461836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compromissos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9367" y="500241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acompanhamento do planejado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172200"/>
            <a:ext cx="109728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O escopo é definido pelo objetivo do cliente — não pela tela, API ou sistema utilizado.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66700"/>
            <a:ext cx="10668000" cy="259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315CD8"/>
                </a:solidFill>
                <a:latin typeface="Aptos"/>
                <a:ea typeface="Aptos"/>
                <a:cs typeface="Aptos"/>
              </a:rPr>
              <a:t>03 · O QUE ESSE AGENT PRECISA SABER FAZER?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81025"/>
            <a:ext cx="10972800" cy="518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Um </a:t>
            </a:r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</a:t>
            </a:r>
            <a:r>
              <a:rPr sz="2800" b="1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gent</a:t>
            </a:r>
            <a:r>
              <a:rPr lang="pt-BR" sz="2800" b="1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e</a:t>
            </a:r>
            <a:r>
              <a:rPr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, </a:t>
            </a:r>
            <a:r>
              <a:rPr sz="2800" b="1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capacidades</a:t>
            </a:r>
            <a:r>
              <a:rPr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sz="28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que</a:t>
            </a:r>
            <a:r>
              <a:rPr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sz="28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evoluem</a:t>
            </a:r>
            <a:r>
              <a:rPr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com a jornada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500" y="1343025"/>
            <a:ext cx="4800600" cy="962025"/>
          </a:xfrm>
          <a:prstGeom prst="roundRect">
            <a:avLst>
              <a:gd name="adj" fmla="val 8929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5" name="TextBox 4"/>
          <p:cNvSpPr txBox="1"/>
          <p:nvPr/>
        </p:nvSpPr>
        <p:spPr>
          <a:xfrm>
            <a:off x="4000500" y="1438275"/>
            <a:ext cx="48006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 dirty="0">
                <a:solidFill>
                  <a:srgbClr val="315CD8"/>
                </a:solidFill>
                <a:latin typeface="Aptos"/>
                <a:ea typeface="Aptos"/>
                <a:cs typeface="Aptos"/>
              </a:rPr>
              <a:t>MINHAS FINANÇAS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1685925"/>
            <a:ext cx="48006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</a:t>
            </a:r>
            <a:r>
              <a:rPr lang="pt-BR" sz="20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E</a:t>
            </a:r>
            <a:endParaRPr sz="20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00500" y="1990725"/>
            <a:ext cx="4800600" cy="289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0" i="0">
                <a:solidFill>
                  <a:srgbClr val="52637B"/>
                </a:solidFill>
                <a:latin typeface="Aptos"/>
                <a:ea typeface="Aptos"/>
                <a:cs typeface="Aptos"/>
              </a:rPr>
              <a:t>entender · planejar · administrar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2305050"/>
            <a:ext cx="0" cy="342900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 rot="16200000">
            <a:off x="76200" y="3438525"/>
            <a:ext cx="1676400" cy="304800"/>
          </a:xfrm>
          <a:prstGeom prst="roundRect">
            <a:avLst>
              <a:gd name="adj" fmla="val 24510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10" name="TextBox 9"/>
          <p:cNvSpPr txBox="1"/>
          <p:nvPr/>
        </p:nvSpPr>
        <p:spPr>
          <a:xfrm rot="16200000">
            <a:off x="76200" y="3438525"/>
            <a:ext cx="16764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315CD8"/>
                </a:solidFill>
                <a:latin typeface="Aptos"/>
                <a:ea typeface="Aptos"/>
                <a:cs typeface="Aptos"/>
              </a:rPr>
              <a:t>CAPACIDADES ATUAIS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7000" y="2647950"/>
            <a:ext cx="7467600" cy="0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67000" y="2647950"/>
            <a:ext cx="0" cy="104775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2619375" y="2752725"/>
            <a:ext cx="95250" cy="66675"/>
          </a:xfrm>
          <a:prstGeom prst="triangle">
            <a:avLst/>
          </a:prstGeom>
          <a:solidFill>
            <a:srgbClr val="829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14" name="Rounded Rectangle 13"/>
          <p:cNvSpPr/>
          <p:nvPr/>
        </p:nvSpPr>
        <p:spPr>
          <a:xfrm>
            <a:off x="1219200" y="2857500"/>
            <a:ext cx="2895600" cy="1466850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15" name="TextBox 14"/>
          <p:cNvSpPr txBox="1"/>
          <p:nvPr/>
        </p:nvSpPr>
        <p:spPr>
          <a:xfrm>
            <a:off x="1333500" y="2981325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NAVEGAÇÃO NO </a:t>
            </a:r>
            <a:r>
              <a:rPr lang="pt-BR"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APP</a:t>
            </a:r>
            <a:endParaRPr sz="14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8749" y="3231343"/>
            <a:ext cx="2476500" cy="6515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25" b="0" i="0" dirty="0">
                <a:solidFill>
                  <a:srgbClr val="52637B"/>
                </a:solidFill>
                <a:latin typeface="Aptos"/>
                <a:ea typeface="Aptos"/>
                <a:cs typeface="Aptos"/>
              </a:rPr>
              <a:t>Orienta </a:t>
            </a:r>
            <a:r>
              <a:rPr sz="1225" b="0" i="0" dirty="0" err="1">
                <a:solidFill>
                  <a:srgbClr val="52637B"/>
                </a:solidFill>
                <a:latin typeface="Aptos"/>
                <a:ea typeface="Aptos"/>
                <a:cs typeface="Aptos"/>
              </a:rPr>
              <a:t>sobre</a:t>
            </a:r>
            <a:r>
              <a:rPr sz="1225" b="0" i="0" dirty="0">
                <a:solidFill>
                  <a:srgbClr val="52637B"/>
                </a:solidFill>
                <a:latin typeface="Aptos"/>
                <a:ea typeface="Aptos"/>
                <a:cs typeface="Aptos"/>
              </a:rPr>
              <a:t> </a:t>
            </a:r>
            <a:r>
              <a:rPr sz="1225" b="0" i="0" dirty="0" err="1">
                <a:solidFill>
                  <a:srgbClr val="52637B"/>
                </a:solidFill>
                <a:latin typeface="Aptos"/>
                <a:ea typeface="Aptos"/>
                <a:cs typeface="Aptos"/>
              </a:rPr>
              <a:t>os</a:t>
            </a:r>
            <a:r>
              <a:rPr sz="1225" b="0" i="0" dirty="0">
                <a:solidFill>
                  <a:srgbClr val="52637B"/>
                </a:solidFill>
                <a:latin typeface="Aptos"/>
                <a:ea typeface="Aptos"/>
                <a:cs typeface="Aptos"/>
              </a:rPr>
              <a:t> </a:t>
            </a:r>
            <a:r>
              <a:rPr sz="1225" b="0" i="0" dirty="0" err="1">
                <a:solidFill>
                  <a:srgbClr val="52637B"/>
                </a:solidFill>
                <a:latin typeface="Aptos"/>
                <a:ea typeface="Aptos"/>
                <a:cs typeface="Aptos"/>
              </a:rPr>
              <a:t>recursos</a:t>
            </a:r>
            <a:r>
              <a:rPr sz="1225" b="0" i="0" dirty="0">
                <a:solidFill>
                  <a:srgbClr val="52637B"/>
                </a:solidFill>
                <a:latin typeface="Aptos"/>
                <a:ea typeface="Aptos"/>
                <a:cs typeface="Aptos"/>
              </a:rPr>
              <a:t> </a:t>
            </a:r>
            <a:r>
              <a:rPr sz="1225" b="0" i="0" dirty="0" err="1">
                <a:solidFill>
                  <a:srgbClr val="52637B"/>
                </a:solidFill>
                <a:latin typeface="Aptos"/>
                <a:ea typeface="Aptos"/>
                <a:cs typeface="Aptos"/>
              </a:rPr>
              <a:t>disponíveis</a:t>
            </a:r>
            <a:r>
              <a:rPr sz="1225" b="0" i="0" dirty="0">
                <a:solidFill>
                  <a:srgbClr val="52637B"/>
                </a:solidFill>
                <a:latin typeface="Aptos"/>
                <a:ea typeface="Aptos"/>
                <a:cs typeface="Aptos"/>
              </a:rPr>
              <a:t> e </a:t>
            </a:r>
            <a:r>
              <a:rPr sz="1225" b="0" i="0" dirty="0" err="1">
                <a:solidFill>
                  <a:srgbClr val="52637B"/>
                </a:solidFill>
                <a:latin typeface="Aptos"/>
                <a:ea typeface="Aptos"/>
                <a:cs typeface="Aptos"/>
              </a:rPr>
              <a:t>onde</a:t>
            </a:r>
            <a:r>
              <a:rPr sz="1225" b="0" i="0" dirty="0">
                <a:solidFill>
                  <a:srgbClr val="52637B"/>
                </a:solidFill>
                <a:latin typeface="Aptos"/>
                <a:ea typeface="Aptos"/>
                <a:cs typeface="Aptos"/>
              </a:rPr>
              <a:t> </a:t>
            </a:r>
            <a:r>
              <a:rPr sz="1225" b="0" i="0" dirty="0" err="1">
                <a:solidFill>
                  <a:srgbClr val="52637B"/>
                </a:solidFill>
                <a:latin typeface="Aptos"/>
                <a:ea typeface="Aptos"/>
                <a:cs typeface="Aptos"/>
              </a:rPr>
              <a:t>encontrá-los</a:t>
            </a:r>
            <a:r>
              <a:rPr sz="1225" b="0" i="0" dirty="0">
                <a:solidFill>
                  <a:srgbClr val="52637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19250" y="3981450"/>
            <a:ext cx="2095500" cy="238125"/>
          </a:xfrm>
          <a:prstGeom prst="roundRect">
            <a:avLst>
              <a:gd name="adj" fmla="val 24000"/>
            </a:avLst>
          </a:prstGeom>
          <a:solidFill>
            <a:srgbClr val="F5F7FA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18" name="TextBox 17"/>
          <p:cNvSpPr txBox="1"/>
          <p:nvPr/>
        </p:nvSpPr>
        <p:spPr>
          <a:xfrm>
            <a:off x="1619250" y="3981450"/>
            <a:ext cx="2095500" cy="243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BR" sz="1000" dirty="0">
                <a:solidFill>
                  <a:srgbClr val="52637B"/>
                </a:solidFill>
                <a:latin typeface="Aptos"/>
                <a:ea typeface="Aptos"/>
                <a:cs typeface="Aptos"/>
              </a:rPr>
              <a:t>FAQ</a:t>
            </a:r>
            <a:endParaRPr sz="1000" b="0" i="0" dirty="0">
              <a:solidFill>
                <a:srgbClr val="52637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2647950"/>
            <a:ext cx="0" cy="104775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353175" y="2752725"/>
            <a:ext cx="95250" cy="66675"/>
          </a:xfrm>
          <a:prstGeom prst="triangle">
            <a:avLst/>
          </a:prstGeom>
          <a:solidFill>
            <a:srgbClr val="829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21" name="Rounded Rectangle 20"/>
          <p:cNvSpPr/>
          <p:nvPr/>
        </p:nvSpPr>
        <p:spPr>
          <a:xfrm>
            <a:off x="4953000" y="2857500"/>
            <a:ext cx="2895600" cy="1466850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22" name="TextBox 21"/>
          <p:cNvSpPr txBox="1"/>
          <p:nvPr/>
        </p:nvSpPr>
        <p:spPr>
          <a:xfrm>
            <a:off x="5067300" y="2981325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ANÁLISE FINANCEIRA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2550" y="3324225"/>
            <a:ext cx="2476500" cy="4648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25" b="0" i="0">
                <a:solidFill>
                  <a:srgbClr val="52637B"/>
                </a:solidFill>
                <a:latin typeface="Aptos"/>
                <a:ea typeface="Aptos"/>
                <a:cs typeface="Aptos"/>
              </a:rPr>
              <a:t>Consulta, organiza e explica gastos e transações.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53050" y="3981450"/>
            <a:ext cx="2095500" cy="238125"/>
          </a:xfrm>
          <a:prstGeom prst="roundRect">
            <a:avLst>
              <a:gd name="adj" fmla="val 24000"/>
            </a:avLst>
          </a:prstGeom>
          <a:solidFill>
            <a:srgbClr val="F5F7FA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25" name="TextBox 24"/>
          <p:cNvSpPr txBox="1"/>
          <p:nvPr/>
        </p:nvSpPr>
        <p:spPr>
          <a:xfrm>
            <a:off x="5353050" y="3981450"/>
            <a:ext cx="2095500" cy="243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0" i="0">
                <a:solidFill>
                  <a:srgbClr val="52637B"/>
                </a:solidFill>
                <a:latin typeface="Aptos"/>
                <a:ea typeface="Aptos"/>
                <a:cs typeface="Aptos"/>
              </a:rPr>
              <a:t>Assistente Financeiro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34600" y="2647950"/>
            <a:ext cx="0" cy="104775"/>
          </a:xfrm>
          <a:prstGeom prst="line">
            <a:avLst/>
          </a:prstGeom>
          <a:ln w="14288">
            <a:solidFill>
              <a:srgbClr val="8293A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10086975" y="2752725"/>
            <a:ext cx="95250" cy="66675"/>
          </a:xfrm>
          <a:prstGeom prst="triangle">
            <a:avLst/>
          </a:prstGeom>
          <a:solidFill>
            <a:srgbClr val="829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28" name="Rounded Rectangle 27"/>
          <p:cNvSpPr/>
          <p:nvPr/>
        </p:nvSpPr>
        <p:spPr>
          <a:xfrm>
            <a:off x="8686800" y="2857500"/>
            <a:ext cx="2895600" cy="1466850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29" name="TextBox 28"/>
          <p:cNvSpPr txBox="1"/>
          <p:nvPr/>
        </p:nvSpPr>
        <p:spPr>
          <a:xfrm>
            <a:off x="8801100" y="2981325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EDUCAÇÃO FINANCEIRA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6350" y="3324225"/>
            <a:ext cx="2476500" cy="4648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25" b="0" i="0">
                <a:solidFill>
                  <a:srgbClr val="52637B"/>
                </a:solidFill>
                <a:latin typeface="Aptos"/>
                <a:ea typeface="Aptos"/>
                <a:cs typeface="Aptos"/>
              </a:rPr>
              <a:t>Orienta e oferece conhecimento para apoiar melhores decisões.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6850" y="3981450"/>
            <a:ext cx="2095500" cy="238125"/>
          </a:xfrm>
          <a:prstGeom prst="roundRect">
            <a:avLst>
              <a:gd name="adj" fmla="val 24000"/>
            </a:avLst>
          </a:prstGeom>
          <a:solidFill>
            <a:srgbClr val="F5F7FA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32" name="TextBox 31"/>
          <p:cNvSpPr txBox="1"/>
          <p:nvPr/>
        </p:nvSpPr>
        <p:spPr>
          <a:xfrm>
            <a:off x="9086850" y="3981450"/>
            <a:ext cx="2095500" cy="243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0" i="0">
                <a:solidFill>
                  <a:srgbClr val="52637B"/>
                </a:solidFill>
                <a:latin typeface="Aptos"/>
                <a:ea typeface="Aptos"/>
                <a:cs typeface="Aptos"/>
              </a:rPr>
              <a:t>Educador Financeiro</a:t>
            </a:r>
          </a:p>
        </p:txBody>
      </p:sp>
      <p:sp>
        <p:nvSpPr>
          <p:cNvPr id="33" name="Rounded Rectangle 32"/>
          <p:cNvSpPr/>
          <p:nvPr/>
        </p:nvSpPr>
        <p:spPr>
          <a:xfrm rot="16200000">
            <a:off x="76200" y="5272088"/>
            <a:ext cx="1676400" cy="304800"/>
          </a:xfrm>
          <a:prstGeom prst="roundRect">
            <a:avLst>
              <a:gd name="adj" fmla="val 24510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34" name="TextBox 33"/>
          <p:cNvSpPr txBox="1"/>
          <p:nvPr/>
        </p:nvSpPr>
        <p:spPr>
          <a:xfrm rot="16200000">
            <a:off x="76200" y="5272088"/>
            <a:ext cx="16764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315CD8"/>
                </a:solidFill>
                <a:latin typeface="Aptos"/>
                <a:ea typeface="Aptos"/>
                <a:cs typeface="Aptos"/>
              </a:rPr>
              <a:t>EVOLUÇÃO DA JORNADA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90800" y="4943475"/>
            <a:ext cx="3429000" cy="962025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36" name="TextBox 35"/>
          <p:cNvSpPr txBox="1"/>
          <p:nvPr/>
        </p:nvSpPr>
        <p:spPr>
          <a:xfrm>
            <a:off x="2743200" y="5038725"/>
            <a:ext cx="3124200" cy="289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7263B"/>
                </a:solidFill>
                <a:latin typeface="Aptos"/>
                <a:ea typeface="Aptos"/>
                <a:cs typeface="Aptos"/>
              </a:rPr>
              <a:t>PLANEJAMENTO FINANCEIRO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1300" y="5286375"/>
            <a:ext cx="3048000" cy="441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0" i="0">
                <a:solidFill>
                  <a:srgbClr val="52637B"/>
                </a:solidFill>
                <a:latin typeface="Aptos"/>
                <a:ea typeface="Aptos"/>
                <a:cs typeface="Aptos"/>
              </a:rPr>
              <a:t>Ajuda a definir e acompanhar orçamentos, limites, metas e planos.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667375"/>
            <a:ext cx="3124200" cy="243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0" i="0">
                <a:solidFill>
                  <a:srgbClr val="315CD8"/>
                </a:solidFill>
                <a:latin typeface="Aptos"/>
                <a:ea typeface="Aptos"/>
                <a:cs typeface="Aptos"/>
              </a:rPr>
              <a:t>consultar · criar · alterar planejamento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81800" y="4943475"/>
            <a:ext cx="3429000" cy="962025"/>
          </a:xfrm>
          <a:prstGeom prst="roundRect">
            <a:avLst>
              <a:gd name="adj" fmla="val 8911"/>
            </a:avLst>
          </a:prstGeom>
          <a:solidFill>
            <a:srgbClr val="FFFFFF"/>
          </a:solidFill>
          <a:ln w="9525">
            <a:solidFill>
              <a:srgbClr val="CDD7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0" i="0"/>
          </a:p>
        </p:txBody>
      </p:sp>
      <p:sp>
        <p:nvSpPr>
          <p:cNvPr id="40" name="TextBox 39"/>
          <p:cNvSpPr txBox="1"/>
          <p:nvPr/>
        </p:nvSpPr>
        <p:spPr>
          <a:xfrm>
            <a:off x="6934200" y="5038725"/>
            <a:ext cx="3124200" cy="289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BR" sz="13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AGENDA</a:t>
            </a:r>
            <a:r>
              <a:rPr sz="13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FINANCEIRA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2300" y="5286375"/>
            <a:ext cx="3048000" cy="441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0" i="0">
                <a:solidFill>
                  <a:srgbClr val="52637B"/>
                </a:solidFill>
                <a:latin typeface="Aptos"/>
                <a:ea typeface="Aptos"/>
                <a:cs typeface="Aptos"/>
              </a:rPr>
              <a:t>Ajuda a organizar vencimentos, agenda e compromissos financeiros.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4200" y="5667375"/>
            <a:ext cx="3124200" cy="243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0" i="0">
                <a:solidFill>
                  <a:srgbClr val="315CD8"/>
                </a:solidFill>
                <a:latin typeface="Aptos"/>
                <a:ea typeface="Aptos"/>
                <a:cs typeface="Aptos"/>
              </a:rPr>
              <a:t>Agendador Financeiro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6305550"/>
            <a:ext cx="1097280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Uma nova </a:t>
            </a:r>
            <a:r>
              <a:rPr lang="pt-BR" sz="1400" b="1" i="1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capacidade</a:t>
            </a:r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não</a:t>
            </a:r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exige</a:t>
            </a:r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um novo </a:t>
            </a:r>
            <a:r>
              <a:rPr lang="pt-BR" sz="1400" b="1" i="1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</a:t>
            </a:r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quando</a:t>
            </a:r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continua </a:t>
            </a:r>
            <a:r>
              <a:rPr sz="14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servindo</a:t>
            </a:r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ao</a:t>
            </a:r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mesmo</a:t>
            </a:r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i="0" dirty="0" err="1">
                <a:solidFill>
                  <a:srgbClr val="17263B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4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DCE8E-B7B9-AA96-0C9B-C289C05E5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29C3E2A4-969D-3630-8FF5-B75912660B5F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C449B-AB87-F959-2EBA-8F273D429542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70423DCD-088B-CD89-0E79-69CA7D77B5F3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1E552024-2D94-C123-1962-3B4818E2584F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094A5F2F-30A9-E195-0ED5-9B3FF5B4CA35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F475C56F-D885-D5F1-1AE7-965E98D52838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346E6FD3-2BCC-7ED9-6542-89958A03807E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73AB1869-B8F7-35A3-D884-CA445F0CC83A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EF04686D-BC80-C12B-5902-9C95C551129E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0C95CC91-A620-1563-4CE1-5C84ABCCC78C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endParaRPr lang="pt-BR" sz="1000" b="0" i="1" dirty="0">
                <a:solidFill>
                  <a:srgbClr val="677591"/>
                </a:solidFill>
              </a:endParaRP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2CFA292A-D68E-B356-20B5-EF6861749037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A947B1ED-9E6A-33F0-FF72-0503EE241B5D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EA923354-510C-236D-5D1E-7E47F0053890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A35D319E-76C5-4BC4-2AAC-FCEDFFC2B62B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4330BBC3-B141-03B5-37E3-912476433D86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8DD5C47A-035F-0D12-3EA8-DDBCF6EA70CE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C8493971-A0CA-BB4C-7556-F73AE7381B19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FC90A30C-92B5-438D-9F8B-091B775C9E68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6A400760-587D-D7D1-7556-A0C330BCDED2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E414F554-4011-6CBC-05EE-9277981D411F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818567CA-5DE7-DFB0-81BC-B093EE91A50B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CBB24BB7-B547-36B4-F52E-A405A7FAD77C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F0D735D8-813C-B333-4D3B-0A02F8825226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03277C25-F9F7-2B65-E576-2FDE2226826C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7F4678D1-4739-C293-4328-FC0F61D21B13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0FF1EC1A-4DDF-88DA-2840-14C72EEA3505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BB41ABA4-CF28-9230-5F8C-918612263BDB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E8E89764-D24E-A36E-EB57-E16362420D2D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F7016A37-0C30-6171-562F-7E8BC99A0254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526DDD24-CEED-D701-7121-DC8DE9D4F289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18681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CAFE3-B04C-0101-B611-958E3E7DD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004C5374-3100-ABE7-E59A-BCC46F5DE6B0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FEA04D-ECC1-EAC1-CB79-6B335C8D71F0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77D88AB8-89F8-F211-224C-985E417DCF2E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F12680F2-39E2-6A1B-B847-49926EA39CA8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0DA2EC16-C01A-4FFB-392A-1ED318B00E27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7C9D6CE3-1503-654E-76C3-48FE4722D162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6696652A-5BD4-FFEC-4ADA-31D8FDBC0678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410AE39B-4EEF-D571-F75F-9829CA64E42B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81DF7ACE-90D9-C889-7324-652C5080A25B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594E7085-AFDA-4498-8B59-D76ADF56BF84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24AFA96A-27E4-8019-7A52-35BC37ADF91C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5A3D1364-6A8C-3DAA-B53F-93D73427A4C6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94DCDE43-C70E-BB2B-471A-3CF9F6880752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A39F8672-44AF-B7FC-4D1A-A26BD20B6060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3D178DCB-0510-1F3B-DAD6-1ACA56EDB304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B910D4F4-2CE1-7886-4A34-42089D6A01E1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38E8D21E-B69E-2CB2-24C9-D242E6E526B2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5098201D-CCBA-946A-600A-FB49A232BD54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B8290565-8D77-4D02-AD4B-538B1B0EED16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51F82B91-559D-5FFA-BC53-2B0C287139FE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9B9E3C63-1D95-BD5C-0E68-9F1CB7D83C4A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C3D0844C-2374-DA3D-E849-EDF2BD8626F6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9ABBE0C5-E967-7FAE-4EAD-5D3BCB75C067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BB43698F-AB18-57F8-B004-FF5F6C52A7ED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F378B79D-64A0-AD0D-1B7C-C864D49FD2A4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A93600CA-521F-4876-E43F-CA082B224E3C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9D14CA46-FA7E-13D5-1497-0D95DC616990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94BC9672-FAAA-F465-9805-8F630A1BDE95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D26CA495-B846-F81E-203C-6AD647541D69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95759BA9-401D-2B6D-C242-BC4C80A41995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3172866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50ECD-D3CA-062E-F976-BDEEBEB80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82C8A76C-DD01-A9BF-15A3-0413B8B00D77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B1294-B1BB-4312-7F25-AB6C0D169DD6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50FF26C9-A276-8247-5ED6-B3363814BC52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2D4D7CD1-5B8B-B35E-939F-9EA51AA43C34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640F165D-BE57-4B4F-D6E0-0EA8DF01031A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578510DB-A920-3059-3058-1EB841E93E40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C6B4EA7B-CDFE-CEEB-2FDC-723AD87B346A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0DC57AEE-7165-1ADD-E6E6-03911B429059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C1D3BE1C-81FD-4FEC-736A-AEE47498273A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7CC0ED0C-4A4D-8961-47CF-ED98AF16ACE1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1E5B34F1-B833-3775-FCC5-A8A9D5104A85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B3E7450B-4C4D-3D57-2E27-B3D305FA1EBA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950457E3-A0FA-3F64-732B-DD2045E49186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DA713FC6-1AFA-A6BC-03F1-DBBC24B97D19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00BD2B33-919E-78A3-803F-9434A9F3E4E6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658AC83B-0D61-4761-F5C1-FB93E9AEF0DF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5CE0186D-FFE6-CC2D-5799-29083ED4256F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CF0ECE11-F156-3455-B57A-CFCA522EA75E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10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“Preciso dos dados do período"</a:t>
                </a: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317FA055-287E-C1F7-83D8-90E92C85C12F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D0751F96-6F02-A59F-E041-9791DF767B27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26CDBB42-68CC-7610-BE35-3EF464F4E551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7E3DA73E-CCFF-95F0-C4F7-983CF41B88AE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E4E54666-D2EF-BC3B-21C2-F57868A1F95A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21375A9B-F8B1-1A04-ADC0-EB8F3C08555C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B7FFA2ED-8E8C-1BB7-A124-5A7A3B13ADFE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D7C7AE5B-5C4F-1706-0270-207D7CD97295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B7160488-45E5-2F15-783C-C9ABCB1C034F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68012056-E176-04B8-4793-C79AB5074D29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4A29E807-2BB1-47A5-2DF3-5AE4708046F1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F63A2BBA-6571-7978-BA27-EA74E276F26C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266098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1F9B5-4CB5-D031-7A1C-4282F89D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DFCEBD20-2A3E-36F2-A424-C3C881101C55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BBD82-EBC2-9CCE-35C7-50D598E8C0E7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0A633BF2-ED22-5C50-5AEC-446E9ABCD61C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07C586F2-05B4-550D-C2F0-B26C38ABAC1E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374633E5-86F8-87E4-1983-777D1DF8D94D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36EF40A2-DBF5-994B-7864-DFB64D9CA453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EFA46363-4D8D-EACE-1F2B-66BD72055D41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AF45FA6F-69EF-525A-AAF8-2C4712E6617A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DB7108E4-17E2-E1D5-E0FF-C4543885810C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6AA70685-B194-AD10-8303-98E3E5B6357F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80293FB1-A715-F94C-D9C0-A6C7B0521F02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2EF7611F-251C-CF13-CC54-E0DD208266DD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E34C1D60-A9CD-449B-98A3-1EB31BD7F5F1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77D56BB2-5A4E-9C32-F58D-A18118520A1E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F36463BC-B833-DA85-1D90-822A5E11ED4A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B42A5941-2D25-0AB6-0EBC-A6BCFBB87498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D6AAA99B-039B-4C44-1CFB-D58F00109EF2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A1297E2E-47A5-E9E9-384C-C51388DB2829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CE3EA768-2CD9-89B7-2EDF-98E1E54B85A3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C789425B-4E52-6ABB-A49F-0D95CC795F61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CDD58159-317D-342B-E487-F24EA1982B85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05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buscar_transações</a:t>
                </a:r>
                <a:b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</a:br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(</a:t>
                </a:r>
                <a:r>
                  <a:rPr lang="pt-BR" sz="105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periodo</a:t>
                </a:r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=“09/2026”)</a:t>
                </a: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D62FC7F1-C2D8-4365-612B-B29DD6852549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2D3C8BDB-E94A-C416-E3DB-694376F4649C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D0A66772-235B-80A9-326A-B97CF31C1730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6DD5F9FA-2118-2D88-EB5C-D5405F9618C5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FEFF79AB-142A-B5F2-7B48-DD9915EC002F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E64F386B-FFF3-9EBD-7284-CFDFB9395D1B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F0A90C09-CDD0-3A84-3398-2D48D81552F8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E53FD550-D164-4239-03BB-E43A8EAB21D0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1B2D3A8F-4EDB-9960-793E-4E8DC0D86B53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288532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35D3E-C51A-6EA2-1A27-3413854E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348AA8FD-B4A4-2496-ADDE-9F6D30FFBEA1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074FA-8E64-9FEA-38F1-774A72BE1DA3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1A6F7A3F-0B65-1084-5608-9E5A9F4C97D4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6A8A294F-AE3E-6CA6-BB91-22A89DCE92D7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C9819286-E4DC-17DD-6296-A68FF419A723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7C2B116E-DE2A-17E9-5B71-F125727900B6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D81DAAA6-A54D-9770-A185-F6254B0F7009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06698453-7BDF-F213-BCB7-D9BEB202951F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134A72B7-5AE7-5CA5-EE16-F9D65FD15EDA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0E4B9A8A-7CF6-F9DE-A3B1-1C61CBDC69FE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9D49D378-C355-9984-7450-5E4675F034AA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14A69548-17E5-26DB-0EC0-F24872CDB8B0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3E6E64EB-62DD-5100-E4D8-13C9406FED6F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313FDB8B-14EB-0E82-E5E2-F27626434C27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1F0F340A-BCCD-2702-C853-36A4451640C3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80945A1B-D7D5-C3F9-58F1-E2F7EE35F0FB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045CFED0-26AE-D153-F2BF-E4AD4750E0E6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BB11C55C-8124-018D-E6CD-CA57E3A80938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B13417F9-11EE-4ADA-D48E-6772459FBE39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243DE8EA-0CC2-C91E-6F72-FC0EDE480067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75687462-FACE-5D4F-6A20-0E8354BF0126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0D45F348-0D7C-6817-7A56-BE926EF7E6D6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49A14BF2-04D4-32EA-4565-AC8699322117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8D163ED5-6C33-66E5-79B6-D916ECBF1949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87 transações encontradas</a:t>
                </a: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E5F26399-C8CD-5A0B-367E-48022BD4E451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B8EE8617-19C4-C3E0-9401-C326D2888F39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774F2183-A007-463F-313B-A10DE4B79985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64659782-8BEE-E099-245B-DE525A111F60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25CB017F-767C-B3DB-7F80-BD602EC2F111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084957D3-C9BF-19C6-65AC-C23872B7147B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2770141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D5CFD-9CB9-807D-EACC-5E999BE51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0CAECE2B-6A45-CEEA-B83B-4CFB17587A7C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09FA4-4859-1A45-9DD0-924081DF3E69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C08F2924-C659-47F0-218A-66CE15684B90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F6A2AB88-4377-BA3C-794C-43A26974BAB4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B1CAACE1-C8A5-6E6A-EEFD-78701143349E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E26F49D3-FE83-7C9D-3528-7748CB9A2B83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65DAB7D9-0374-A2C1-2356-6731AFE53D74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5E80056D-9C9E-5272-61AE-B8AD907D0DD2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B52F7AE2-F056-6F87-5FD8-3B2D136CEBEE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CFED5777-2E62-5AC8-7D4C-23252815F0F2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8DFDC9EC-4CDD-050B-503E-3F29476845BD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90D4A5D2-F2D7-E529-F81E-4D28A9EDD80A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52DECF75-4DC1-ED95-D596-279514B6A359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3432B000-3A8C-7626-4CDF-BC8196E96A26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2B68D963-8CAA-5411-A75A-064A52BD1DF9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C0C8FEC9-931C-CE3D-D484-EE5033B99445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FE3400D5-D0CB-72BE-B325-FD26A2E469AA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3FD6C95F-3ED2-D75D-C2DE-EA5A486D4DF2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10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“Preciso identificar o maior gasto."</a:t>
                </a: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9CC15966-83F2-E6AF-C76E-6D40100AFA9D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7DC26F6D-2FA1-3293-7A2D-A7B319064299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387EA026-F47A-DE56-16AA-53353B2CD5BE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446435A0-A6CC-461C-BD65-F7089284767B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D481962D-AD3E-6130-53B0-1EC5069D9153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E09EA8EE-956D-244D-3574-2DF6069D608E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B4F2957F-3226-841E-792B-DE55C3F09347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012F6CDD-1269-C496-A2DC-301A5B142DE9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B617A2E0-CEF9-6E4A-557B-309270687931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6FA7EC2D-DDC4-B520-BF0A-2458B96328C0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648E9369-60B1-E66C-0C72-F8449A94A957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2E3A1D60-53EC-AD1A-E644-4E77DF950759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1165789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8B32D-BCEF-3058-A3AB-F777F814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EC60CAA3-89C9-04FD-21E0-135A0EBA0159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F0E3F-756E-0CEA-E776-984572883974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ED4C45D1-AAED-7606-2FF7-18CCA5EBAB63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A5103B6D-D45D-BFDA-63D2-0C0C51D84566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0C3BA2EE-19AF-8675-863E-CC8B6B8790F6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8452BA34-7CD5-6998-94D8-8F99E94AF7CD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DD8AE49C-BD1C-E8C3-8022-82810947A8F2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93CBE49E-0090-999A-1B27-AEFD5C486151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0B35EB32-FAD0-EB94-0BEC-261D06C72533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76E7B4B4-C71E-64B4-E7DB-A3E4299EF026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CE46B68B-8476-F119-3F80-06A67FE1581A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2957E2C8-2C39-8134-AA0A-2BCDA5CCAF20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4CE2DAF0-A4FD-535A-DA38-624E43CB590B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50D524F2-2BA1-EF8E-EDBF-20A3C94126AF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0D25145E-DD22-9AB2-2222-4FD32431E2CF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CB3C1EDF-CF72-98F6-1D5A-EBA621642E95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9775C7FA-0583-7349-0F44-0C4DC84E383D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4ACB275D-2F69-1C11-62C2-154BCD1F123D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B704F061-70BE-F88B-68AA-49E25D27BD6A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C8087CE3-017F-A0A3-DBAF-4BFFD0C3AA23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7B94D16D-FAEE-9663-150B-CE47037F7CE3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05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analisar_gastos</a:t>
                </a:r>
                <a:b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</a:br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(</a:t>
                </a:r>
                <a:r>
                  <a:rPr lang="pt-BR" sz="105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periodo</a:t>
                </a:r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="09/2026")</a:t>
                </a: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70CA69F9-FF0F-0DC9-4963-B6D3AC3D8E27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7135A7DE-3102-4C05-C319-864E0F8DB1E3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34BD708E-B0E1-00DC-E8A4-7C393E1D5C8A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8F94BA30-07E0-93E7-7993-B2FF5F92697B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84277672-F52D-FE57-C314-260662C59EAB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A8B76670-63B2-F16F-B985-37449ED28A13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6DBA564D-CD9E-CEBE-FACD-A7385AB4258B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0B601B57-44B5-3F24-657B-9872EFD5120B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32386F88-9405-30BF-36E0-285CD778665A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1738338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1AF61-9577-A0F7-B43D-6A71F5E2E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F06B6F34-7D99-DD98-6D14-44509F76AFBF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C7BC9-84B8-D23C-390D-40D16A3EDAD7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4B5F89FD-C664-84CF-98AE-5D002AB7A4C4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BC074054-E0D4-C1A1-D010-75083B00C900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EFE23691-EDFB-444D-2EBB-2A201D20DBE2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D05286F7-DA2B-B4D4-8074-1FA502CAB6A1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7A9C6088-28C9-D716-9DD5-A0CACCF91646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23CB576D-3E22-F161-4541-006D7AED01BE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B8D05C8F-0144-3E71-B1EB-C179913D3740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C6351CBB-E9FB-204E-B105-6CBEE24599E4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25ED124B-1F8F-4805-F7F8-6878CBBB6788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A8414338-ABB6-C42A-B7CC-680115DE7F46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9096566F-6FA8-4DC2-F50F-5F0D4A3CD6C0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0654EB80-88FD-0E8D-C45E-8631CF996212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14E084AA-3B22-E3DA-8649-AB3B5D1E7B8E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93BDFEF1-6E9F-4F00-BDBD-EAEE5291079E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97715C22-EE24-7342-5920-1BB103D4BF0F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FC0BBCD1-E51B-3BFD-5A66-D7517A576DA5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860D5B00-E68B-7D77-2500-141C50454D3B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06E87021-1951-573A-1A20-B73A4B90A153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EF72D639-8C83-A83B-3C9E-17AAD0D4CBBC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DAB0265E-31CF-6460-5068-0F7A9629193D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CB9E9D2B-6515-9392-260C-481A9AB20300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C8902F29-0C1E-64F4-0926-9C4CE310FC5F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05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maior_categoria</a:t>
                </a:r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:</a:t>
                </a:r>
                <a:b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</a:br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"alimentação"</a:t>
                </a:r>
              </a:p>
              <a:p>
                <a:pPr algn="ctr"/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total: 1420</a:t>
                </a: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59649E3B-E2C2-EC27-91DD-15646924F96C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5309389A-37D9-0520-CA1F-8B989C7E5F3D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3CE4C8FE-BD90-6C7D-1E7A-6DF70F9E33FA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E055030E-9C9E-CA1D-D455-F760ADB38592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22E1F638-CB27-4129-EB0C-A02863FB276C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7F1D0CCF-BFF7-5FD6-CCE7-03E76A1AF973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3016536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3F81C-FE56-4C46-7272-71A062A1E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551CB429-F2D7-4E72-AEB9-A531313C731A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5F4F5-763B-4BB6-43B5-D3D1C1036023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E3C58249-E2BE-72A3-D5D0-0D5348647C78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867B3A09-4F8D-009A-A606-BF25E8681F33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2AD9129C-0FC4-52F0-EC3D-540453FD3B87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3137B2A7-6FF8-37B5-8093-450A7D153A9D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3677700B-3198-96BA-4D3F-DCEB2806974D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F165C396-AE56-9565-C18B-77B46386C0AB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DADD1AF5-636D-C4AA-A4EA-98E359D6F364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214244E1-24D2-19F7-07C5-23A78532E1A3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98E8A70C-2329-30A8-D4CF-F8EAB136A14C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645CFAF0-7D64-44BE-3F75-7CA917363C13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BC279135-7E1C-2DEB-F4CD-08FBF54639D1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081B453F-19B3-A235-7EAC-8D8708CED82F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85BB50CD-7028-D7F6-AB34-0A591BCD2455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4211A76C-1749-ECB9-25D8-0D967CA65816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9A134B40-C124-2C7A-821A-5EDF737CC269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6C16C7D0-2CD3-7311-4CB0-D0921F4DFBE7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10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“Preciso orientar como economizar"</a:t>
                </a: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0B1CC73F-D958-F55E-D2F5-DD57C11444CC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CA3E24A5-2B08-0CF7-C67E-921391954065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53ACFD5E-62FA-DDFB-5B95-CA2F43122670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902F39E0-8103-4C15-5BDA-D7AD66483EE7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26FB1AFA-FEE4-B65D-21FE-3C885979F3E8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A2B04B62-2650-B929-344B-3844E3E2D633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0BA10142-6FF1-F66D-0CB2-21DC34072E18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ADE223EF-DF2A-AE93-E05D-001573E5A432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AA64BCB1-9848-3C22-33AC-18868335682E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ECE1DF84-2BD8-BB1B-C795-C65C3F5DFA2E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B0968282-6217-7878-F5D3-2F10ECC92566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9A234C08-042C-05C9-5F69-D636752A5D0D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1155308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A5A32-D560-96EF-DAFB-99D19A46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D3844A51-F62D-CB8D-F904-6C966AEB9EF6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AF959-7697-21E2-BED0-6A23453EF503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D1404F2C-C694-A6D5-8913-EC2499BF6B77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90F16E38-23B2-8A79-EB87-0E71D270DA2C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27F87BCD-07F9-6FCA-3E31-1056E7BF6BB0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2DE28C06-D60B-0B8E-BFD9-2564DB85EE7D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0B3065AB-E6B3-FB0D-19DC-B557EA606286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92667DED-584D-1DE0-E79C-E7EBDE836D39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5A151622-B8D5-CD6B-3475-0752D113A889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351577B0-9E4C-0718-4531-C179C3FEAB42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7B68E880-E490-E7C5-BE63-4391933C2338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555ED5D6-01F0-9121-EDCD-1DCC2BD836BF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F1E68469-565D-EA8B-886A-67FD6280B728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A109F703-1E8E-BFB3-BCA7-3BDD8433314E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FA053112-94F7-59C7-2DA3-CC7E46DFB512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30E264AE-7634-7FE7-82CE-491A7B0E6285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D030D60D-CCCC-13E4-FC45-C65C53482AF1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20019725-73BE-995C-0129-85929C9EC554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E3A1EB9A-FA4F-78BB-880D-B78AB4C2FCA2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D2332993-05BC-71C0-16CC-66984A4CB888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5DB50796-2F41-8F16-DD60-99D4D0543EBA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05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buscar_orientacao</a:t>
                </a:r>
                <a:b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</a:br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( tema="economizar em alimentação")</a:t>
                </a: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429469D5-2951-D25E-14FE-97B25F57837B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FD8E6CE3-DF5A-6D4B-62CF-C237D4F9D8B3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8EA5D57C-07BD-97E5-71E6-39865CCDA340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DC33F583-6F3F-7151-28E7-D1EFC92CBFAA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9CB7C2F6-3853-01E3-577E-274A6201C6DF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C62324A8-CFB3-0DB9-EAA3-590609BDFEE1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DDBD328D-3F67-AF6D-6C1C-A81E12238121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74551D5D-3439-35B5-4EC7-2E2C7A35E41F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A3BD5AB1-8F64-FD5A-76D2-05AE0EA4248B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361573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00669-F536-04F7-6604-E32E525F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EB526A88-E427-DEA7-34A4-18444F1AF802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2FC6F-E6CF-727B-64DA-91C81FB4B8EE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10BE316D-0E58-842B-A6E8-1D32BACC128B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3C8F346A-C5EC-7171-A0B4-4FB175627B7F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5E5220D5-6074-7953-D624-CA720454834E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655DC462-2DB4-F2C6-E36E-4FB67380E348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3E426652-AEA0-152A-4341-172C94465830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BE2177AF-487E-43DD-8415-A8BF6AB6A7FE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742BCFE1-0AD6-FC67-6DDF-D2401B2D408B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F6F906C7-DD36-5615-0FC3-DF579617BCEC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B638D081-A361-6A69-4027-E27BD89F2D0F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1E517D3E-4F98-D976-CFA8-C21A27ED3073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B651E80A-314B-BE1B-FCFB-3028E772857D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EA26F54A-A16C-5F8D-2CB8-7CB635F210F5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8E36529B-9E4B-3E24-4B36-E7E1075D51F6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C7EDE086-BE1D-0599-2065-F5BC715251C5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C53DF254-3EFA-0B25-E564-9B3C4AE5FF42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84AFC4F5-3135-03E7-0337-0EB31DF18D6A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7ECDE758-7234-6A51-A2AC-FD0C26DD9801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0C0D64BA-D5ED-7447-243F-A38A766AAC05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0B844429-11F7-7DA3-CDCF-E94AFF690E1F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A043B34D-33BB-5032-1A8A-26BD295DDD3B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39E15F5A-C818-98B2-F6C1-2D9FFB257942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590B43E2-6A58-4D80-7264-894076E98C5A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05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orientacoes</a:t>
                </a:r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:</a:t>
                </a:r>
              </a:p>
              <a:p>
                <a:pPr algn="ctr"/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- reduzir delivery</a:t>
                </a:r>
              </a:p>
              <a:p>
                <a:pPr algn="ctr"/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- planejar compras</a:t>
                </a:r>
              </a:p>
              <a:p>
                <a:pPr algn="ctr"/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- definir limite de gastos</a:t>
                </a: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4567F1A3-DEC7-C94B-5AA3-C1988CE55CBB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209939CC-18BA-B65E-157B-B6BB7A190A8A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A6F926AF-FAD5-6F70-B10D-A923E9626538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8E5A6E8A-F8C0-D998-4249-3CECAF30E55D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DE0E14E7-BF60-4AB1-6AED-165F4FFF9A19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4119EB59-F1F2-1B31-AF18-C71BE34467FD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3245057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0FBB9-8B01-80EE-29AB-DB94ECFB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6DC1DEFF-7AEE-EF79-C821-B08BCFC777AF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A8066-A5EE-E466-66F3-738ED6F2CBBC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151F3779-5487-A79A-7D11-9CE5825604C0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D3A7E30C-3D27-9696-BA53-606A36518053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1354D51E-E0BD-991C-D92D-344F6FD50A88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4F944766-AD71-0103-7E52-BB88C1523E54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0FB90821-0A6C-D073-A350-E5D2B6E990B5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7EAA4F9D-3051-A73A-1693-F8BDBF1EBB4F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4847E761-C4D8-1508-566D-57675455923B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5ED4862B-59DB-9FCB-1F80-15696C6B7562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DB4DFB87-EA73-FFCD-DC5C-5AE3EFBBB078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86348E4A-6134-2598-5D26-49D137DF5B10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5099D2D3-039C-D6D6-AE3F-B1DD310A87F3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9B2757E8-97DD-D197-D74F-FA45CD998EFD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D4B6CEFA-027A-E61A-5100-E7D83B051836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12E2223E-A0D7-DFD0-B7B3-840A399AC81C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81CB36E8-B559-5AA7-C68B-358B738E64A5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C4DD4357-D3D4-5F98-F34B-B7DA694A6B13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10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“Tenho informação suficiente e posso sugerir o planejamento.”</a:t>
                </a: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A38F7B05-28A3-47F6-186E-BDED4EE9B921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1C89F90E-D6F6-7CD8-FBE7-F3781CB1E568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0BC5B686-FCBF-96CF-E4AA-4FB1C8B87419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4E72B86F-4B21-4AAF-B029-41E9E78EF927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ECCE03D2-B846-C25C-09A3-05F4CC476EFB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6A956AB7-9BAD-C931-9AB5-34CE65FBE6E2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C0DAADAA-F295-5533-3D96-07D18A126FCC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7740E679-194C-C96E-4863-E2DCCAE574A5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6E3BE33A-B9D3-B8D1-9CBA-4AB628330A12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AC3E0BA5-D34D-B52F-7474-143FC3D6073E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4278309C-6FE4-52A6-311B-2348E19CCAC5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77BF71B1-07DC-7052-2EC7-64D1B9AC5F58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3753815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AC1BC-3469-22DE-E607-B9D1F8057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6C838207-6B88-47C4-222D-3B144A840CE7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27B44-E378-E466-406D-B217AA9AB5DF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F545BE8E-BC9C-FA2E-67FF-DE409B5B1742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2B238169-7A58-374F-1959-BB02E6896315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20E01090-7835-B62B-E6DF-C2D3961604F0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6FBEE4D9-7F69-6A1A-8067-2BE64D12D90E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5C2DF72C-CE51-07F5-AAC4-CB3ECE8A9320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F1945F03-2213-4914-5BBE-3ACF11940376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B163A468-F75F-2635-9CDE-AD5BBDF65048}"/>
              </a:ext>
            </a:extLst>
          </p:cNvPr>
          <p:cNvGrpSpPr/>
          <p:nvPr/>
        </p:nvGrpSpPr>
        <p:grpSpPr>
          <a:xfrm>
            <a:off x="3079970" y="2630613"/>
            <a:ext cx="1710368" cy="2544637"/>
            <a:chOff x="3694034" y="3560686"/>
            <a:chExt cx="1710368" cy="2544637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BFA20EAF-2B37-B670-26EE-9ACEF3F72AE2}"/>
                </a:ext>
              </a:extLst>
            </p:cNvPr>
            <p:cNvSpPr/>
            <p:nvPr/>
          </p:nvSpPr>
          <p:spPr>
            <a:xfrm>
              <a:off x="3585864" y="4206673"/>
              <a:ext cx="1981200" cy="2305050"/>
            </a:xfrm>
            <a:prstGeom prst="roundRect">
              <a:avLst>
                <a:gd name="adj" fmla="val 4327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“Em setembro, seu maior gasto foi com alimentação: R$ 1.420. Você pode economizar reduzindo delivery, planejando melhor as compras e definindo um limite para essa categoria. Se quiser, eu também posso te mostrar como usar o Planejamento Financeiro.”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A8E96677-1FA6-1347-C1FA-D3BF696CD3CB}"/>
                </a:ext>
              </a:extLst>
            </p:cNvPr>
            <p:cNvSpPr/>
            <p:nvPr/>
          </p:nvSpPr>
          <p:spPr>
            <a:xfrm>
              <a:off x="3585864" y="3920923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54375A90-D0E5-34AA-57A5-B1CA3788FD56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12709DDB-D22F-44BD-8431-7D204D892A78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27ACD7C4-BF24-B351-54A9-0CC26417FE91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C4F12808-4AB2-30FB-EA7B-F011E530EFA7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DE01C7ED-E803-CF59-4541-3960B878B8E2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683FE15C-F616-836D-C5AD-69D507B8E347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691FA476-0003-724B-B45C-18AAE4B67B73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93A583D4-0F61-A975-AF48-65960B740DAB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9407CDF9-538C-532B-BD07-D4617454F008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AFF21966-9879-8E69-FF91-3CFEF4C5CDA2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C9979CEF-BE1B-4E8A-F711-855F7869A10B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07712699-837D-958E-0AFE-AF2EDA87EA1A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E4915B76-2BE5-C356-00A7-F873C0DD057C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endParaRPr lang="pt-BR" sz="1000" b="0" i="1" dirty="0">
                  <a:solidFill>
                    <a:srgbClr val="677591"/>
                  </a:solidFill>
                </a:endParaRP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EC106B1A-F751-798C-EF2A-95D76F0E4C6F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9E70BF1A-611B-B630-973D-F951CBC25D5C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8A604412-01CB-C2EB-2D8E-EE2A7101B67D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9CD8B12B-8B19-BC14-0DCD-3B7A607ACC71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24FB8690-D077-F2F2-7617-68EE6F79499A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08C92C08-EA10-B849-01A8-37457097A9D9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236864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A3A08-CC7B-A0A2-EDA2-DF121A95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">
            <a:extLst>
              <a:ext uri="{FF2B5EF4-FFF2-40B4-BE49-F238E27FC236}">
                <a16:creationId xmlns:a16="http://schemas.microsoft.com/office/drawing/2014/main" id="{3B22C583-0EC3-8DF5-1D6D-6E61907C698E}"/>
              </a:ext>
            </a:extLst>
          </p:cNvPr>
          <p:cNvSpPr>
            <a:spLocks/>
          </p:cNvSpPr>
          <p:nvPr/>
        </p:nvSpPr>
        <p:spPr>
          <a:xfrm>
            <a:off x="5524500" y="1371600"/>
            <a:ext cx="5943600" cy="4572000"/>
          </a:xfrm>
          <a:prstGeom prst="roundRect">
            <a:avLst>
              <a:gd name="adj" fmla="val 2105"/>
            </a:avLst>
          </a:prstGeom>
          <a:solidFill>
            <a:srgbClr val="F1F4FC"/>
          </a:solidFill>
          <a:ln w="9525">
            <a:solidFill>
              <a:srgbClr val="CDD7E8"/>
            </a:solidFill>
            <a:prstDash val="solid"/>
          </a:ln>
        </p:spPr>
        <p:txBody>
          <a:bodyPr anchor="ctr"/>
          <a:lstStyle/>
          <a:p>
            <a:endParaRPr lang="pt-BR" b="0" i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DC358-BF05-25D1-BDB3-982BD8FE5A5F}"/>
              </a:ext>
            </a:extLst>
          </p:cNvPr>
          <p:cNvSpPr txBox="1"/>
          <p:nvPr/>
        </p:nvSpPr>
        <p:spPr>
          <a:xfrm>
            <a:off x="609600" y="381000"/>
            <a:ext cx="4000500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i="0" dirty="0">
                <a:solidFill>
                  <a:srgbClr val="17263B"/>
                </a:solidFill>
                <a:latin typeface="Aptos"/>
                <a:ea typeface="Aptos"/>
                <a:cs typeface="Aptos"/>
              </a:rPr>
              <a:t>Agente Minhas Finanças</a:t>
            </a:r>
            <a:endParaRPr sz="2800" b="1" i="0" dirty="0">
              <a:solidFill>
                <a:srgbClr val="17263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82B8BE95-F92B-F2FC-3CCB-5ACA36D2356E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2D603759-A9B5-0596-93B6-28912320F9A9}"/>
              </a:ext>
            </a:extLst>
          </p:cNvPr>
          <p:cNvCxnSpPr/>
          <p:nvPr/>
        </p:nvCxnSpPr>
        <p:spPr>
          <a:xfrm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9485E679-7EB3-0710-1E18-8AEAA84D5577}"/>
              </a:ext>
            </a:extLst>
          </p:cNvPr>
          <p:cNvCxnSpPr/>
          <p:nvPr/>
        </p:nvCxnSpPr>
        <p:spPr>
          <a:xfrm flipV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0DD87FD5-8BEC-60E3-77C6-C36F9ED8C356}"/>
              </a:ext>
            </a:extLst>
          </p:cNvPr>
          <p:cNvCxnSpPr/>
          <p:nvPr/>
        </p:nvCxnSpPr>
        <p:spPr>
          <a:xfrm flipH="1">
            <a:off x="609600" y="6191250"/>
            <a:ext cx="0" cy="0"/>
          </a:xfrm>
          <a:prstGeom prst="line">
            <a:avLst/>
          </a:prstGeom>
          <a:ln w="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hape 6">
            <a:extLst>
              <a:ext uri="{FF2B5EF4-FFF2-40B4-BE49-F238E27FC236}">
                <a16:creationId xmlns:a16="http://schemas.microsoft.com/office/drawing/2014/main" id="{4896DFFF-F6CD-056E-83EA-06B5ABE5C10E}"/>
              </a:ext>
            </a:extLst>
          </p:cNvPr>
          <p:cNvSpPr/>
          <p:nvPr/>
        </p:nvSpPr>
        <p:spPr>
          <a:xfrm>
            <a:off x="5676900" y="152400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Padrão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989BEA77-86FF-E83C-CE65-540D488E3C97}"/>
              </a:ext>
            </a:extLst>
          </p:cNvPr>
          <p:cNvSpPr/>
          <p:nvPr/>
        </p:nvSpPr>
        <p:spPr>
          <a:xfrm>
            <a:off x="5676900" y="1809750"/>
            <a:ext cx="1809750" cy="228600"/>
          </a:xfrm>
          <a:prstGeom prst="roundRect">
            <a:avLst>
              <a:gd name="adj" fmla="val 29167"/>
            </a:avLst>
          </a:prstGeom>
          <a:solidFill>
            <a:srgbClr val="315CD8"/>
          </a:solidFill>
          <a:ln w="9525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Orquestração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lang="en-US" sz="85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  <a:r>
              <a:rPr lang="en-US" sz="8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endParaRPr lang="pt-BR" sz="850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2BD2E80D-0EE8-DBB6-C20F-2B3C95E2602D}"/>
              </a:ext>
            </a:extLst>
          </p:cNvPr>
          <p:cNvGrpSpPr/>
          <p:nvPr/>
        </p:nvGrpSpPr>
        <p:grpSpPr>
          <a:xfrm>
            <a:off x="3079643" y="2955679"/>
            <a:ext cx="1707472" cy="1068355"/>
            <a:chOff x="3696930" y="3560686"/>
            <a:chExt cx="1707472" cy="1068355"/>
          </a:xfrm>
        </p:grpSpPr>
        <p:sp>
          <p:nvSpPr>
            <p:cNvPr id="73" name="Rounded Rectangle 4">
              <a:extLst>
                <a:ext uri="{FF2B5EF4-FFF2-40B4-BE49-F238E27FC236}">
                  <a16:creationId xmlns:a16="http://schemas.microsoft.com/office/drawing/2014/main" id="{0CFFD09C-038A-273E-E414-CE5FEBF8F52E}"/>
                </a:ext>
              </a:extLst>
            </p:cNvPr>
            <p:cNvSpPr/>
            <p:nvPr/>
          </p:nvSpPr>
          <p:spPr>
            <a:xfrm>
              <a:off x="3589087" y="3881607"/>
              <a:ext cx="19812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 cliente quer entender, planejar e administrar a vida financeira"</a:t>
              </a:r>
            </a:p>
          </p:txBody>
        </p:sp>
        <p:sp>
          <p:nvSpPr>
            <p:cNvPr id="75" name="Shape 21">
              <a:extLst>
                <a:ext uri="{FF2B5EF4-FFF2-40B4-BE49-F238E27FC236}">
                  <a16:creationId xmlns:a16="http://schemas.microsoft.com/office/drawing/2014/main" id="{FD7D36A9-B660-83D9-751B-8C489D834843}"/>
                </a:ext>
              </a:extLst>
            </p:cNvPr>
            <p:cNvSpPr/>
            <p:nvPr/>
          </p:nvSpPr>
          <p:spPr>
            <a:xfrm>
              <a:off x="3589087" y="3595857"/>
              <a:ext cx="1981200" cy="361950"/>
            </a:xfrm>
            <a:prstGeom prst="roundRect">
              <a:avLst>
                <a:gd name="adj" fmla="val 0"/>
              </a:avLst>
            </a:prstGeom>
            <a:solidFill>
              <a:srgbClr val="E9EFFB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315CD8"/>
                  </a:solidFill>
                  <a:latin typeface="Aptos"/>
                  <a:ea typeface="Aptos"/>
                  <a:cs typeface="Aptos"/>
                </a:rPr>
                <a:t>ORQUESTRADOR                </a:t>
              </a:r>
            </a:p>
          </p:txBody>
        </p:sp>
      </p:grpSp>
      <p:sp>
        <p:nvSpPr>
          <p:cNvPr id="91" name="Shape 11">
            <a:extLst>
              <a:ext uri="{FF2B5EF4-FFF2-40B4-BE49-F238E27FC236}">
                <a16:creationId xmlns:a16="http://schemas.microsoft.com/office/drawing/2014/main" id="{B10C6394-8143-85DD-AA2C-CCBD7F2608D2}"/>
              </a:ext>
            </a:extLst>
          </p:cNvPr>
          <p:cNvSpPr/>
          <p:nvPr/>
        </p:nvSpPr>
        <p:spPr>
          <a:xfrm>
            <a:off x="2743200" y="3429000"/>
            <a:ext cx="1524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F4E98F92-2642-54A0-9D25-2B0252D7DF6E}"/>
              </a:ext>
            </a:extLst>
          </p:cNvPr>
          <p:cNvGrpSpPr/>
          <p:nvPr/>
        </p:nvGrpSpPr>
        <p:grpSpPr>
          <a:xfrm>
            <a:off x="943715" y="2987189"/>
            <a:ext cx="1707472" cy="1055654"/>
            <a:chOff x="411184" y="1568473"/>
            <a:chExt cx="1707472" cy="1055654"/>
          </a:xfrm>
        </p:grpSpPr>
        <p:sp>
          <p:nvSpPr>
            <p:cNvPr id="111" name="Rounded Rectangle 4">
              <a:extLst>
                <a:ext uri="{FF2B5EF4-FFF2-40B4-BE49-F238E27FC236}">
                  <a16:creationId xmlns:a16="http://schemas.microsoft.com/office/drawing/2014/main" id="{8F6CFBED-6A5B-3267-1D06-5452A52F535A}"/>
                </a:ext>
              </a:extLst>
            </p:cNvPr>
            <p:cNvSpPr/>
            <p:nvPr/>
          </p:nvSpPr>
          <p:spPr>
            <a:xfrm>
              <a:off x="305669" y="1857884"/>
              <a:ext cx="1828800" cy="81915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5250" tIns="95250" rIns="95250" bIns="95250" anchor="ctr">
              <a:noAutofit/>
            </a:bodyPr>
            <a:lstStyle/>
            <a:p>
              <a:pPr algn="ctr"/>
              <a:r>
                <a:rPr lang="pt-BR" sz="1100" b="0" i="0" dirty="0">
                  <a:solidFill>
                    <a:srgbClr val="52637B"/>
                  </a:solidFill>
                  <a:latin typeface="Aptos"/>
                  <a:ea typeface="Aptos"/>
                  <a:cs typeface="Aptos"/>
                </a:rPr>
                <a:t>“Onde eu gastei mais em setembro? como economizar?"</a:t>
              </a:r>
            </a:p>
          </p:txBody>
        </p:sp>
        <p:sp>
          <p:nvSpPr>
            <p:cNvPr id="113" name="Shape 21">
              <a:extLst>
                <a:ext uri="{FF2B5EF4-FFF2-40B4-BE49-F238E27FC236}">
                  <a16:creationId xmlns:a16="http://schemas.microsoft.com/office/drawing/2014/main" id="{FA3A7468-DC00-89AD-010B-06D08CA99780}"/>
                </a:ext>
              </a:extLst>
            </p:cNvPr>
            <p:cNvSpPr/>
            <p:nvPr/>
          </p:nvSpPr>
          <p:spPr>
            <a:xfrm>
              <a:off x="305669" y="1572134"/>
              <a:ext cx="1828800" cy="3619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>
              <a:solidFill>
                <a:srgbClr val="CDD7E8"/>
              </a:solidFill>
              <a:prstDash val="solid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 algn="ctr"/>
              <a:r>
                <a:rPr lang="pt-BR" sz="1000" b="1" i="0" dirty="0">
                  <a:solidFill>
                    <a:srgbClr val="17263B"/>
                  </a:solidFill>
                  <a:latin typeface="Aptos"/>
                  <a:ea typeface="Aptos"/>
                  <a:cs typeface="Aptos"/>
                </a:rPr>
                <a:t>CLIENTE                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1EF21AE4-5754-DDE1-6A39-67AB61E7D0DB}"/>
              </a:ext>
            </a:extLst>
          </p:cNvPr>
          <p:cNvGrpSpPr/>
          <p:nvPr/>
        </p:nvGrpSpPr>
        <p:grpSpPr>
          <a:xfrm>
            <a:off x="5902831" y="1783580"/>
            <a:ext cx="4731801" cy="3462872"/>
            <a:chOff x="5370300" y="1613869"/>
            <a:chExt cx="4731801" cy="3462872"/>
          </a:xfrm>
        </p:grpSpPr>
        <p:grpSp>
          <p:nvGrpSpPr>
            <p:cNvPr id="150" name="Agrupar 149">
              <a:extLst>
                <a:ext uri="{FF2B5EF4-FFF2-40B4-BE49-F238E27FC236}">
                  <a16:creationId xmlns:a16="http://schemas.microsoft.com/office/drawing/2014/main" id="{85C75BAE-86FC-1BF6-1187-D3C3C54CDEB6}"/>
                </a:ext>
              </a:extLst>
            </p:cNvPr>
            <p:cNvGrpSpPr/>
            <p:nvPr/>
          </p:nvGrpSpPr>
          <p:grpSpPr>
            <a:xfrm>
              <a:off x="5370300" y="2827482"/>
              <a:ext cx="1707472" cy="1071742"/>
              <a:chOff x="5370300" y="2827482"/>
              <a:chExt cx="1707472" cy="1071742"/>
            </a:xfrm>
          </p:grpSpPr>
          <p:sp>
            <p:nvSpPr>
              <p:cNvPr id="95" name="Rounded Rectangle 4">
                <a:extLst>
                  <a:ext uri="{FF2B5EF4-FFF2-40B4-BE49-F238E27FC236}">
                    <a16:creationId xmlns:a16="http://schemas.microsoft.com/office/drawing/2014/main" id="{95AC1BA3-ADEE-4F89-0E98-7DEE587F41B3}"/>
                  </a:ext>
                </a:extLst>
              </p:cNvPr>
              <p:cNvSpPr/>
              <p:nvPr/>
            </p:nvSpPr>
            <p:spPr>
              <a:xfrm>
                <a:off x="5372969" y="31068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10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“Preciso dos dados do período"</a:t>
                </a:r>
              </a:p>
            </p:txBody>
          </p:sp>
          <p:sp>
            <p:nvSpPr>
              <p:cNvPr id="97" name="Shape 21">
                <a:extLst>
                  <a:ext uri="{FF2B5EF4-FFF2-40B4-BE49-F238E27FC236}">
                    <a16:creationId xmlns:a16="http://schemas.microsoft.com/office/drawing/2014/main" id="{C4C58868-6D49-8783-ED7D-C51037C62E10}"/>
                  </a:ext>
                </a:extLst>
              </p:cNvPr>
              <p:cNvSpPr/>
              <p:nvPr/>
            </p:nvSpPr>
            <p:spPr>
              <a:xfrm>
                <a:off x="5372969" y="28211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E9EFFB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Pensar</a:t>
                </a:r>
              </a:p>
            </p:txBody>
          </p:sp>
        </p:grpSp>
        <p:grpSp>
          <p:nvGrpSpPr>
            <p:cNvPr id="151" name="Agrupar 150">
              <a:extLst>
                <a:ext uri="{FF2B5EF4-FFF2-40B4-BE49-F238E27FC236}">
                  <a16:creationId xmlns:a16="http://schemas.microsoft.com/office/drawing/2014/main" id="{2D99FEF7-9DCD-2078-692D-7314D018AC9B}"/>
                </a:ext>
              </a:extLst>
            </p:cNvPr>
            <p:cNvGrpSpPr/>
            <p:nvPr/>
          </p:nvGrpSpPr>
          <p:grpSpPr>
            <a:xfrm>
              <a:off x="7966880" y="1613869"/>
              <a:ext cx="1707472" cy="1057923"/>
              <a:chOff x="7966880" y="1613869"/>
              <a:chExt cx="1707472" cy="1057923"/>
            </a:xfrm>
          </p:grpSpPr>
          <p:sp>
            <p:nvSpPr>
              <p:cNvPr id="119" name="Rounded Rectangle 4">
                <a:extLst>
                  <a:ext uri="{FF2B5EF4-FFF2-40B4-BE49-F238E27FC236}">
                    <a16:creationId xmlns:a16="http://schemas.microsoft.com/office/drawing/2014/main" id="{9236D122-67E1-DEF9-773A-4EBC5C16CA11}"/>
                  </a:ext>
                </a:extLst>
              </p:cNvPr>
              <p:cNvSpPr/>
              <p:nvPr/>
            </p:nvSpPr>
            <p:spPr>
              <a:xfrm>
                <a:off x="7963769" y="19257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050" b="0" i="0" dirty="0" err="1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buscar_transações</a:t>
                </a:r>
                <a:b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</a:br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(setembro/2026)</a:t>
                </a:r>
              </a:p>
            </p:txBody>
          </p:sp>
          <p:sp>
            <p:nvSpPr>
              <p:cNvPr id="121" name="Shape 21">
                <a:extLst>
                  <a:ext uri="{FF2B5EF4-FFF2-40B4-BE49-F238E27FC236}">
                    <a16:creationId xmlns:a16="http://schemas.microsoft.com/office/drawing/2014/main" id="{132D7839-71DF-7E31-5EB3-18A83354A8F1}"/>
                  </a:ext>
                </a:extLst>
              </p:cNvPr>
              <p:cNvSpPr/>
              <p:nvPr/>
            </p:nvSpPr>
            <p:spPr>
              <a:xfrm>
                <a:off x="7963769" y="16400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Agir</a:t>
                </a:r>
              </a:p>
            </p:txBody>
          </p:sp>
        </p:grpSp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B142CCA7-3A48-BFC4-10AE-3779521D2EF9}"/>
                </a:ext>
              </a:extLst>
            </p:cNvPr>
            <p:cNvGrpSpPr/>
            <p:nvPr/>
          </p:nvGrpSpPr>
          <p:grpSpPr>
            <a:xfrm>
              <a:off x="7949020" y="4018818"/>
              <a:ext cx="1707472" cy="1057923"/>
              <a:chOff x="7949020" y="4018818"/>
              <a:chExt cx="1707472" cy="1057923"/>
            </a:xfrm>
          </p:grpSpPr>
          <p:sp>
            <p:nvSpPr>
              <p:cNvPr id="129" name="Rounded Rectangle 4">
                <a:extLst>
                  <a:ext uri="{FF2B5EF4-FFF2-40B4-BE49-F238E27FC236}">
                    <a16:creationId xmlns:a16="http://schemas.microsoft.com/office/drawing/2014/main" id="{C28DC5AA-BCC0-A01C-FD6B-AD0AC39574E7}"/>
                  </a:ext>
                </a:extLst>
              </p:cNvPr>
              <p:cNvSpPr/>
              <p:nvPr/>
            </p:nvSpPr>
            <p:spPr>
              <a:xfrm>
                <a:off x="7963769" y="4326089"/>
                <a:ext cx="1828800" cy="819150"/>
              </a:xfrm>
              <a:prstGeom prst="roundRect">
                <a:avLst>
                  <a:gd name="adj" fmla="val 10465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5250" tIns="95250" rIns="95250" bIns="95250" anchor="ctr">
                <a:noAutofit/>
              </a:bodyPr>
              <a:lstStyle/>
              <a:p>
                <a:pPr algn="ctr"/>
                <a:r>
                  <a:rPr lang="pt-BR" sz="1050" b="0" i="0" dirty="0">
                    <a:solidFill>
                      <a:srgbClr val="52637B"/>
                    </a:solidFill>
                    <a:latin typeface="Aptos"/>
                    <a:ea typeface="Aptos"/>
                    <a:cs typeface="Aptos"/>
                  </a:rPr>
                  <a:t>87 transações encontradas</a:t>
                </a:r>
              </a:p>
            </p:txBody>
          </p:sp>
          <p:sp>
            <p:nvSpPr>
              <p:cNvPr id="131" name="Shape 21">
                <a:extLst>
                  <a:ext uri="{FF2B5EF4-FFF2-40B4-BE49-F238E27FC236}">
                    <a16:creationId xmlns:a16="http://schemas.microsoft.com/office/drawing/2014/main" id="{274D5A72-CE4D-C9AB-720E-4DE4F24FA899}"/>
                  </a:ext>
                </a:extLst>
              </p:cNvPr>
              <p:cNvSpPr/>
              <p:nvPr/>
            </p:nvSpPr>
            <p:spPr>
              <a:xfrm>
                <a:off x="7963769" y="4040339"/>
                <a:ext cx="1828800" cy="361950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9525">
                <a:solidFill>
                  <a:srgbClr val="CDD7E8"/>
                </a:solidFill>
                <a:prstDash val="solid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 algn="ctr"/>
                <a:r>
                  <a:rPr lang="pt-BR" sz="1000" b="1" i="0" dirty="0">
                    <a:solidFill>
                      <a:srgbClr val="17263B"/>
                    </a:solidFill>
                    <a:latin typeface="Aptos"/>
                    <a:ea typeface="Aptos"/>
                    <a:cs typeface="Aptos"/>
                  </a:rPr>
                  <a:t>Observar</a:t>
                </a:r>
              </a:p>
            </p:txBody>
          </p:sp>
        </p:grpSp>
        <p:sp>
          <p:nvSpPr>
            <p:cNvPr id="140" name="Arco 139">
              <a:extLst>
                <a:ext uri="{FF2B5EF4-FFF2-40B4-BE49-F238E27FC236}">
                  <a16:creationId xmlns:a16="http://schemas.microsoft.com/office/drawing/2014/main" id="{159F82EE-FE31-7D07-8B63-8CAF4D1A8BBC}"/>
                </a:ext>
              </a:extLst>
            </p:cNvPr>
            <p:cNvSpPr/>
            <p:nvPr/>
          </p:nvSpPr>
          <p:spPr>
            <a:xfrm rot="560133">
              <a:off x="7189102" y="2039951"/>
              <a:ext cx="2922518" cy="263109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78375B11-BADD-D540-F3DA-96F4B41ED872}"/>
                </a:ext>
              </a:extLst>
            </p:cNvPr>
            <p:cNvSpPr/>
            <p:nvPr/>
          </p:nvSpPr>
          <p:spPr>
            <a:xfrm rot="8226674">
              <a:off x="7050086" y="2795410"/>
              <a:ext cx="1946025" cy="1751974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E65429C9-4B4A-5172-3C2F-D5AB6F79F60D}"/>
                </a:ext>
              </a:extLst>
            </p:cNvPr>
            <p:cNvSpPr/>
            <p:nvPr/>
          </p:nvSpPr>
          <p:spPr>
            <a:xfrm rot="14603606">
              <a:off x="7001997" y="2268936"/>
              <a:ext cx="1899886" cy="1710435"/>
            </a:xfrm>
            <a:prstGeom prst="arc">
              <a:avLst>
                <a:gd name="adj1" fmla="val 19275393"/>
                <a:gd name="adj2" fmla="val 1359249"/>
              </a:avLst>
            </a:prstGeom>
            <a:ln w="17145">
              <a:solidFill>
                <a:srgbClr val="315CD8"/>
              </a:solidFill>
              <a:prstDash val="solid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lang="pt-BR" b="0" i="0"/>
            </a:p>
          </p:txBody>
        </p:sp>
      </p:grpSp>
      <p:sp>
        <p:nvSpPr>
          <p:cNvPr id="155" name="Shape 11">
            <a:extLst>
              <a:ext uri="{FF2B5EF4-FFF2-40B4-BE49-F238E27FC236}">
                <a16:creationId xmlns:a16="http://schemas.microsoft.com/office/drawing/2014/main" id="{676D3D04-6AAB-F6E5-9623-AAD626F0D3F5}"/>
              </a:ext>
            </a:extLst>
          </p:cNvPr>
          <p:cNvSpPr/>
          <p:nvPr/>
        </p:nvSpPr>
        <p:spPr>
          <a:xfrm>
            <a:off x="5029200" y="3429000"/>
            <a:ext cx="800100" cy="0"/>
          </a:xfrm>
          <a:prstGeom prst="line">
            <a:avLst/>
          </a:prstGeom>
          <a:noFill/>
          <a:ln w="14288">
            <a:solidFill>
              <a:srgbClr val="8293A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  <p:sp>
        <p:nvSpPr>
          <p:cNvPr id="157" name="Shape 11">
            <a:extLst>
              <a:ext uri="{FF2B5EF4-FFF2-40B4-BE49-F238E27FC236}">
                <a16:creationId xmlns:a16="http://schemas.microsoft.com/office/drawing/2014/main" id="{82F5BFF6-39CD-3414-1770-0FE1AC29B495}"/>
              </a:ext>
            </a:extLst>
          </p:cNvPr>
          <p:cNvSpPr/>
          <p:nvPr/>
        </p:nvSpPr>
        <p:spPr>
          <a:xfrm flipH="1">
            <a:off x="5029200" y="3733800"/>
            <a:ext cx="800100" cy="0"/>
          </a:xfrm>
          <a:prstGeom prst="line">
            <a:avLst/>
          </a:prstGeom>
          <a:noFill/>
          <a:ln w="14288">
            <a:solidFill>
              <a:srgbClr val="315C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b="0" i="0"/>
          </a:p>
        </p:txBody>
      </p:sp>
    </p:spTree>
    <p:extLst>
      <p:ext uri="{BB962C8B-B14F-4D97-AF65-F5344CB8AC3E}">
        <p14:creationId xmlns:p14="http://schemas.microsoft.com/office/powerpoint/2010/main" val="252938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1573</Words>
  <Application>Microsoft Office PowerPoint</Application>
  <PresentationFormat>Widescreen</PresentationFormat>
  <Paragraphs>264</Paragraphs>
  <Slides>18</Slides>
  <Notes>18</Notes>
  <HiddenSlides>1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 vs Agent</dc:title>
  <dc:subject>Workflow vs Agent — modern cards</dc:subject>
  <dc:creator>OpenAI</dc:creator>
  <cp:lastModifiedBy>Manuel Cruz</cp:lastModifiedBy>
  <cp:revision>11</cp:revision>
  <dcterms:created xsi:type="dcterms:W3CDTF">2026-10-04T15:48:03Z</dcterms:created>
  <dcterms:modified xsi:type="dcterms:W3CDTF">2026-10-04T22:15:23Z</dcterms:modified>
</cp:coreProperties>
</file>