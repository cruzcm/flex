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574000" cy="108585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2" y="-49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465D9DF-4058-4C53-97F6-D7A416302652}"/>
              </a:ext>
            </a:extLst>
          </p:cNvPr>
          <p:cNvSpPr>
            <a:spLocks noGrp="1"/>
          </p:cNvSpPr>
          <p:nvPr/>
        </p:nvSpPr>
        <p:spPr>
          <a:xfrm>
            <a:off x="8686800" y="2516717"/>
            <a:ext cx="914400" cy="4339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A811D8-4533-4029-82D3-A50D4EF7A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950633"/>
            <a:ext cx="14630400" cy="112818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2FFCADF-FD52-4A7F-88DA-48F444310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4295775"/>
            <a:ext cx="12801600" cy="8678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6A20DBF-C9FB-4582-BE90-7A7E93E67C15}"/>
              </a:ext>
            </a:extLst>
          </p:cNvPr>
          <p:cNvSpPr>
            <a:spLocks noGrp="1"/>
          </p:cNvSpPr>
          <p:nvPr/>
        </p:nvSpPr>
        <p:spPr>
          <a:xfrm>
            <a:off x="8686800" y="2820458"/>
            <a:ext cx="914400" cy="4339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DCF765C-26AC-49CD-B996-E1A58795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254375"/>
            <a:ext cx="14630400" cy="1301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575D2738-A4AB-4453-B58E-DD0409DDBBE6}"/>
              </a:ext>
            </a:extLst>
          </p:cNvPr>
          <p:cNvSpPr>
            <a:spLocks noGrp="1"/>
          </p:cNvSpPr>
          <p:nvPr/>
        </p:nvSpPr>
        <p:spPr>
          <a:xfrm>
            <a:off x="1028700" y="1735667"/>
            <a:ext cx="914400" cy="4339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EF10B2-41CF-40CD-8497-AD4913F7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07483"/>
            <a:ext cx="16230600" cy="95461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326C1D7B-608C-45A2-AF6F-EBDC35A8F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9583"/>
            <a:ext cx="16230600" cy="48598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603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1pPr>
            <a:lvl2pPr marL="6074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2pPr>
            <a:lvl3pPr marL="9546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3pPr>
            <a:lvl4pPr marL="13017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4pPr>
            <a:lvl5pPr marL="16488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5pPr>
            <a:lvl6pPr marL="19960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6pPr>
            <a:lvl7pPr marL="23431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7pPr>
            <a:lvl8pPr marL="26902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8pPr>
            <a:lvl9pPr marL="30374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F4B3986B-DB97-45DA-B4E6-4D49CAD51E0D}"/>
              </a:ext>
            </a:extLst>
          </p:cNvPr>
          <p:cNvSpPr>
            <a:spLocks noGrp="1"/>
          </p:cNvSpPr>
          <p:nvPr/>
        </p:nvSpPr>
        <p:spPr>
          <a:xfrm>
            <a:off x="1028700" y="1735667"/>
            <a:ext cx="914400" cy="4339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8FCBFC9-DEB6-43B2-8D67-D532B8A7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07483"/>
            <a:ext cx="16230600" cy="95461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F767FBAA-95E5-4DE0-9F1B-0A7D3DB52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9583"/>
            <a:ext cx="7543800" cy="48598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603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1pPr>
            <a:lvl2pPr marL="6074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2pPr>
            <a:lvl3pPr marL="9546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3pPr>
            <a:lvl4pPr marL="13017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4pPr>
            <a:lvl5pPr marL="16488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5pPr>
            <a:lvl6pPr marL="19960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6pPr>
            <a:lvl7pPr marL="23431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7pPr>
            <a:lvl8pPr marL="26902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8pPr>
            <a:lvl9pPr marL="30374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0FCF5034-6D1C-48CA-BB2E-8ECEC83236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169583"/>
            <a:ext cx="7543800" cy="48598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603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1pPr>
            <a:lvl2pPr marL="6074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2pPr>
            <a:lvl3pPr marL="9546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3pPr>
            <a:lvl4pPr marL="13017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4pPr>
            <a:lvl5pPr marL="16488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5pPr>
            <a:lvl6pPr marL="19960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6pPr>
            <a:lvl7pPr marL="23431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7pPr>
            <a:lvl8pPr marL="26902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8pPr>
            <a:lvl9pPr marL="30374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1AA3069A-8A6A-48C7-9A9F-F41464324953}"/>
              </a:ext>
            </a:extLst>
          </p:cNvPr>
          <p:cNvSpPr>
            <a:spLocks noGrp="1"/>
          </p:cNvSpPr>
          <p:nvPr/>
        </p:nvSpPr>
        <p:spPr>
          <a:xfrm>
            <a:off x="1028700" y="1735667"/>
            <a:ext cx="914400" cy="43392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DAF6AB4-9E8C-4D56-A893-453E70183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07483"/>
            <a:ext cx="16230600" cy="95461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1F9B2DA6-2B01-4B85-B338-5387D07FF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9583"/>
            <a:ext cx="7543800" cy="48598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603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1pPr>
            <a:lvl2pPr marL="6074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2pPr>
            <a:lvl3pPr marL="9546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3pPr>
            <a:lvl4pPr marL="13017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4pPr>
            <a:lvl5pPr marL="16488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5pPr>
            <a:lvl6pPr marL="19960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6pPr>
            <a:lvl7pPr marL="2343150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7pPr>
            <a:lvl8pPr marL="2690283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8pPr>
            <a:lvl9pPr marL="3037417" indent="-260350">
              <a:lnSpc>
                <a:spcPct val="110000"/>
              </a:lnSpc>
              <a:spcBef>
                <a:spcPts val="0"/>
              </a:spcBef>
              <a:spcAft>
                <a:spcPts val="1367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Área Banco do Brasil">
            <a:extLst>
              <a:ext uri="{FF2B5EF4-FFF2-40B4-BE49-F238E27FC236}">
                <a16:creationId xmlns:a16="http://schemas.microsoft.com/office/drawing/2014/main" id="{D5970844-374F-4B95-B5B8-AD89200C1092}"/>
              </a:ext>
            </a:extLst>
          </p:cNvPr>
          <p:cNvSpPr>
            <a:spLocks noGrp="1"/>
          </p:cNvSpPr>
          <p:nvPr/>
        </p:nvSpPr>
        <p:spPr>
          <a:xfrm>
            <a:off x="765810" y="381000"/>
            <a:ext cx="16474440" cy="10096500"/>
          </a:xfrm>
          <a:prstGeom prst="rect">
            <a:avLst/>
          </a:prstGeom>
          <a:solidFill>
            <a:srgbClr val="FAF4DC"/>
          </a:solidFill>
          <a:ln w="9525">
            <a:solidFill>
              <a:srgbClr val="C9C7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Ambiente NEC">
            <a:extLst>
              <a:ext uri="{FF2B5EF4-FFF2-40B4-BE49-F238E27FC236}">
                <a16:creationId xmlns:a16="http://schemas.microsoft.com/office/drawing/2014/main" id="{2905B15C-2AF9-433E-BE58-C557DCA3B6B1}"/>
              </a:ext>
            </a:extLst>
          </p:cNvPr>
          <p:cNvSpPr>
            <a:spLocks noGrp="1"/>
          </p:cNvSpPr>
          <p:nvPr/>
        </p:nvSpPr>
        <p:spPr>
          <a:xfrm>
            <a:off x="3575685" y="1714500"/>
            <a:ext cx="6905625" cy="8572500"/>
          </a:xfrm>
          <a:prstGeom prst="rect">
            <a:avLst/>
          </a:prstGeom>
          <a:solidFill>
            <a:srgbClr val="D9EADB"/>
          </a:solidFill>
          <a:ln w="9525">
            <a:solidFill>
              <a:srgbClr val="ACBCA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Ambiente NIA">
            <a:extLst>
              <a:ext uri="{FF2B5EF4-FFF2-40B4-BE49-F238E27FC236}">
                <a16:creationId xmlns:a16="http://schemas.microsoft.com/office/drawing/2014/main" id="{F5F2EA77-D6B2-4B13-B3B1-BA84B8E5A10D}"/>
              </a:ext>
            </a:extLst>
          </p:cNvPr>
          <p:cNvSpPr>
            <a:spLocks noGrp="1"/>
          </p:cNvSpPr>
          <p:nvPr/>
        </p:nvSpPr>
        <p:spPr>
          <a:xfrm>
            <a:off x="10719435" y="1714500"/>
            <a:ext cx="2952750" cy="8572500"/>
          </a:xfrm>
          <a:prstGeom prst="rect">
            <a:avLst/>
          </a:prstGeom>
          <a:solidFill>
            <a:srgbClr val="E5DEED"/>
          </a:solidFill>
          <a:ln w="9525">
            <a:solidFill>
              <a:srgbClr val="B6AE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Ambiente IBM Cloud">
            <a:extLst>
              <a:ext uri="{FF2B5EF4-FFF2-40B4-BE49-F238E27FC236}">
                <a16:creationId xmlns:a16="http://schemas.microsoft.com/office/drawing/2014/main" id="{B13FDAE9-DACF-4765-B084-6B1D9233280F}"/>
              </a:ext>
            </a:extLst>
          </p:cNvPr>
          <p:cNvSpPr>
            <a:spLocks noGrp="1"/>
          </p:cNvSpPr>
          <p:nvPr/>
        </p:nvSpPr>
        <p:spPr>
          <a:xfrm>
            <a:off x="17430750" y="381000"/>
            <a:ext cx="2762250" cy="10096500"/>
          </a:xfrm>
          <a:prstGeom prst="rect">
            <a:avLst/>
          </a:prstGeom>
          <a:solidFill>
            <a:srgbClr val="E4EAF4"/>
          </a:solidFill>
          <a:ln w="9525">
            <a:solidFill>
              <a:srgbClr val="B2BB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ítulo NEC">
            <a:extLst>
              <a:ext uri="{FF2B5EF4-FFF2-40B4-BE49-F238E27FC236}">
                <a16:creationId xmlns:a16="http://schemas.microsoft.com/office/drawing/2014/main" id="{63AF54B5-0507-431A-A7ED-891D890F5428}"/>
              </a:ext>
            </a:extLst>
          </p:cNvPr>
          <p:cNvSpPr>
            <a:spLocks noGrp="1"/>
          </p:cNvSpPr>
          <p:nvPr/>
        </p:nvSpPr>
        <p:spPr>
          <a:xfrm>
            <a:off x="3766185" y="1905000"/>
            <a:ext cx="6524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950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NEC</a:t>
            </a:r>
          </a:p>
        </p:txBody>
      </p:sp>
      <p:sp>
        <p:nvSpPr>
          <p:cNvPr id="7" name="Cluster NEC">
            <a:extLst>
              <a:ext uri="{FF2B5EF4-FFF2-40B4-BE49-F238E27FC236}">
                <a16:creationId xmlns:a16="http://schemas.microsoft.com/office/drawing/2014/main" id="{F9822AC7-744A-4FDD-B04D-B8FACE29088C}"/>
              </a:ext>
            </a:extLst>
          </p:cNvPr>
          <p:cNvSpPr>
            <a:spLocks noGrp="1"/>
          </p:cNvSpPr>
          <p:nvPr/>
        </p:nvSpPr>
        <p:spPr>
          <a:xfrm>
            <a:off x="3766185" y="2286000"/>
            <a:ext cx="6524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(k8sprdbb132a)</a:t>
            </a:r>
          </a:p>
        </p:txBody>
      </p:sp>
      <p:sp>
        <p:nvSpPr>
          <p:cNvPr id="8" name="Título NIA">
            <a:extLst>
              <a:ext uri="{FF2B5EF4-FFF2-40B4-BE49-F238E27FC236}">
                <a16:creationId xmlns:a16="http://schemas.microsoft.com/office/drawing/2014/main" id="{AB102F8D-E4B5-4A70-8D35-81BEB13D3D42}"/>
              </a:ext>
            </a:extLst>
          </p:cNvPr>
          <p:cNvSpPr>
            <a:spLocks noGrp="1"/>
          </p:cNvSpPr>
          <p:nvPr/>
        </p:nvSpPr>
        <p:spPr>
          <a:xfrm>
            <a:off x="10909935" y="19050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950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NIA</a:t>
            </a:r>
          </a:p>
        </p:txBody>
      </p:sp>
      <p:sp>
        <p:nvSpPr>
          <p:cNvPr id="9" name="Cluster NIA">
            <a:extLst>
              <a:ext uri="{FF2B5EF4-FFF2-40B4-BE49-F238E27FC236}">
                <a16:creationId xmlns:a16="http://schemas.microsoft.com/office/drawing/2014/main" id="{0370FFF5-2B30-4EEA-AC53-8EDCAF64C852}"/>
              </a:ext>
            </a:extLst>
          </p:cNvPr>
          <p:cNvSpPr>
            <a:spLocks noGrp="1"/>
          </p:cNvSpPr>
          <p:nvPr/>
        </p:nvSpPr>
        <p:spPr>
          <a:xfrm>
            <a:off x="10909935" y="22860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(k8sprdbb132a)</a:t>
            </a:r>
          </a:p>
        </p:txBody>
      </p:sp>
      <p:sp>
        <p:nvSpPr>
          <p:cNvPr id="10" name="IBM Cloud">
            <a:extLst>
              <a:ext uri="{FF2B5EF4-FFF2-40B4-BE49-F238E27FC236}">
                <a16:creationId xmlns:a16="http://schemas.microsoft.com/office/drawing/2014/main" id="{A5E2E79A-BE50-4B26-B539-D9E3DF435644}"/>
              </a:ext>
            </a:extLst>
          </p:cNvPr>
          <p:cNvSpPr>
            <a:spLocks noGrp="1"/>
          </p:cNvSpPr>
          <p:nvPr/>
        </p:nvSpPr>
        <p:spPr>
          <a:xfrm>
            <a:off x="17668875" y="87630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2400" b="1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1474C"/>
                </a:solidFill>
                <a:latin typeface="Arial"/>
                <a:ea typeface="Arial"/>
                <a:cs typeface="Arial"/>
              </a:rPr>
              <a:t>IBM Cloud</a:t>
            </a:r>
          </a:p>
        </p:txBody>
      </p:sp>
      <p:sp>
        <p:nvSpPr>
          <p:cNvPr id="12" name="adapter">
            <a:extLst>
              <a:ext uri="{FF2B5EF4-FFF2-40B4-BE49-F238E27FC236}">
                <a16:creationId xmlns:a16="http://schemas.microsoft.com/office/drawing/2014/main" id="{B70078D4-E3F0-420B-AC10-58E4B2B882C3}"/>
              </a:ext>
            </a:extLst>
          </p:cNvPr>
          <p:cNvSpPr>
            <a:spLocks noGrp="1"/>
          </p:cNvSpPr>
          <p:nvPr/>
        </p:nvSpPr>
        <p:spPr>
          <a:xfrm>
            <a:off x="3813810" y="3238500"/>
            <a:ext cx="2000250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nec-adapter-app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/v1/op14600402v3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  <a:p>
            <a:pPr marL="15240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Captura a identidade do cliente no canal.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Roteia para o </a:t>
            </a:r>
            <a:r>
              <a:rPr sz="1200" b="1">
                <a:solidFill>
                  <a:srgbClr val="41474C"/>
                </a:solidFill>
                <a:latin typeface="Arial"/>
                <a:ea typeface="Arial"/>
                <a:cs typeface="Arial"/>
              </a:rPr>
              <a:t>bot-cc</a:t>
            </a: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bot">
            <a:extLst>
              <a:ext uri="{FF2B5EF4-FFF2-40B4-BE49-F238E27FC236}">
                <a16:creationId xmlns:a16="http://schemas.microsoft.com/office/drawing/2014/main" id="{E2F59D23-4855-4D4E-A32A-CCFD79E10F15}"/>
              </a:ext>
            </a:extLst>
          </p:cNvPr>
          <p:cNvSpPr>
            <a:spLocks noGrp="1"/>
          </p:cNvSpPr>
          <p:nvPr/>
        </p:nvSpPr>
        <p:spPr>
          <a:xfrm>
            <a:off x="6099810" y="3238500"/>
            <a:ext cx="2095500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nec-bot-cc-app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/dialog/channel/corpusNia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  <a:p>
            <a:pPr marL="15240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Coordena o fluxo de diálogo.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Aciona o </a:t>
            </a:r>
            <a:r>
              <a:rPr sz="1200" b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ac-app</a:t>
            </a: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para seguir com o processamento conversacional. 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ac">
            <a:extLst>
              <a:ext uri="{FF2B5EF4-FFF2-40B4-BE49-F238E27FC236}">
                <a16:creationId xmlns:a16="http://schemas.microsoft.com/office/drawing/2014/main" id="{876310DC-9A67-4864-ABD5-CEDFAF9AC6A7}"/>
              </a:ext>
            </a:extLst>
          </p:cNvPr>
          <p:cNvSpPr>
            <a:spLocks noGrp="1"/>
          </p:cNvSpPr>
          <p:nvPr/>
        </p:nvSpPr>
        <p:spPr>
          <a:xfrm>
            <a:off x="8481060" y="3238500"/>
            <a:ext cx="1762125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nec-ac-app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/dialog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Gateway para os serviços conversacionais.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Gerencia o contexto no lado do NEC.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Encaminha a mensagem para a </a:t>
            </a:r>
            <a:r>
              <a:rPr sz="1200" b="1">
                <a:solidFill>
                  <a:srgbClr val="41474C"/>
                </a:solidFill>
                <a:latin typeface="Arial"/>
                <a:ea typeface="Arial"/>
                <a:cs typeface="Arial"/>
              </a:rPr>
              <a:t>fachada-ia.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fachada">
            <a:extLst>
              <a:ext uri="{FF2B5EF4-FFF2-40B4-BE49-F238E27FC236}">
                <a16:creationId xmlns:a16="http://schemas.microsoft.com/office/drawing/2014/main" id="{7E1AF4EF-0A04-47AA-ACD4-A9FE12319FBF}"/>
              </a:ext>
            </a:extLst>
          </p:cNvPr>
          <p:cNvSpPr>
            <a:spLocks noGrp="1"/>
          </p:cNvSpPr>
          <p:nvPr/>
        </p:nvSpPr>
        <p:spPr>
          <a:xfrm>
            <a:off x="10909935" y="3238500"/>
            <a:ext cx="2571750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nia-fachada-ia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/orchestrate/v1/runtime/stream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Encapsula o contrato de integração com a IBM.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Roteia a mensagem via Satelite.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atellite">
            <a:extLst>
              <a:ext uri="{FF2B5EF4-FFF2-40B4-BE49-F238E27FC236}">
                <a16:creationId xmlns:a16="http://schemas.microsoft.com/office/drawing/2014/main" id="{6BCA340A-E6DD-4F8E-A512-51769ACC9C10}"/>
              </a:ext>
            </a:extLst>
          </p:cNvPr>
          <p:cNvSpPr>
            <a:spLocks noGrp="1"/>
          </p:cNvSpPr>
          <p:nvPr/>
        </p:nvSpPr>
        <p:spPr>
          <a:xfrm>
            <a:off x="14478000" y="3238500"/>
            <a:ext cx="2190750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ibm-satellite-</a:t>
            </a:r>
            <a:b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</a:b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connector-equinix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(k8sprdbb152a)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gateway de borda de rede entre Banco e IBM.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controla quais endpoints podem ser acessados.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aplica whitelist de endpoints.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encaminha a comunicação pelo link privado.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orchestrate">
            <a:extLst>
              <a:ext uri="{FF2B5EF4-FFF2-40B4-BE49-F238E27FC236}">
                <a16:creationId xmlns:a16="http://schemas.microsoft.com/office/drawing/2014/main" id="{80B81757-295F-4888-B0E4-70E0A8D6D67B}"/>
              </a:ext>
            </a:extLst>
          </p:cNvPr>
          <p:cNvSpPr>
            <a:spLocks noGrp="1"/>
          </p:cNvSpPr>
          <p:nvPr/>
        </p:nvSpPr>
        <p:spPr>
          <a:xfrm>
            <a:off x="17668875" y="3238500"/>
            <a:ext cx="2286000" cy="28575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nia-ibm-orchestrate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/orchestrate/runs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grafeno">
            <a:extLst>
              <a:ext uri="{FF2B5EF4-FFF2-40B4-BE49-F238E27FC236}">
                <a16:creationId xmlns:a16="http://schemas.microsoft.com/office/drawing/2014/main" id="{0B326EC0-023B-4F51-BEBE-49A809EADE31}"/>
              </a:ext>
            </a:extLst>
          </p:cNvPr>
          <p:cNvSpPr>
            <a:spLocks noGrp="1"/>
          </p:cNvSpPr>
          <p:nvPr/>
        </p:nvSpPr>
        <p:spPr>
          <a:xfrm>
            <a:off x="1003934" y="6762750"/>
            <a:ext cx="2329815" cy="3429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2670B5"/>
                </a:solidFill>
                <a:latin typeface="Arial"/>
                <a:ea typeface="Arial"/>
                <a:cs typeface="Arial"/>
              </a:rPr>
              <a:t>Grafeno</a:t>
            </a:r>
            <a:endParaRPr sz="1500" dirty="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Recebe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a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chamada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do transaction-executor;</a:t>
            </a:r>
            <a:endParaRPr sz="120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Aplica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controles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de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acesso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;</a:t>
            </a:r>
            <a:endParaRPr sz="120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Aplica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autenticação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/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autorização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;</a:t>
            </a:r>
            <a:endParaRPr sz="120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Aplica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regras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negociais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;</a:t>
            </a:r>
            <a:endParaRPr sz="120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Aplica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limites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;</a:t>
            </a:r>
            <a:endParaRPr sz="120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Aplica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restrições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por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cliente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e canal;</a:t>
            </a:r>
            <a:endParaRPr sz="120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Executa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a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operação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 de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negócio</a:t>
            </a: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.</a:t>
            </a:r>
            <a:endParaRPr sz="120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executor">
            <a:extLst>
              <a:ext uri="{FF2B5EF4-FFF2-40B4-BE49-F238E27FC236}">
                <a16:creationId xmlns:a16="http://schemas.microsoft.com/office/drawing/2014/main" id="{2CCCABA5-FE10-4954-9CB5-79D4ED6E8EE4}"/>
              </a:ext>
            </a:extLst>
          </p:cNvPr>
          <p:cNvSpPr>
            <a:spLocks noGrp="1"/>
          </p:cNvSpPr>
          <p:nvPr/>
        </p:nvSpPr>
        <p:spPr>
          <a:xfrm>
            <a:off x="5575935" y="6762750"/>
            <a:ext cx="3143250" cy="3429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nec-transaction-executor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/execute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Controla a permissão de execução;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Mantém o controle da execução independente do LLM;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Correlaciona a sessão do cliente;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Realiza autenticação com senha;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Realiza autorização com token;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Aciona Grafeno/IIB.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ool">
            <a:extLst>
              <a:ext uri="{FF2B5EF4-FFF2-40B4-BE49-F238E27FC236}">
                <a16:creationId xmlns:a16="http://schemas.microsoft.com/office/drawing/2014/main" id="{4CCACD0E-A4A3-45DE-B483-AF1CA344EB71}"/>
              </a:ext>
            </a:extLst>
          </p:cNvPr>
          <p:cNvSpPr>
            <a:spLocks noGrp="1"/>
          </p:cNvSpPr>
          <p:nvPr/>
        </p:nvSpPr>
        <p:spPr>
          <a:xfrm>
            <a:off x="10909935" y="6762750"/>
            <a:ext cx="2571750" cy="3429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nia-tool-handler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6B75"/>
                </a:solidFill>
                <a:latin typeface="Arial"/>
                <a:ea typeface="Arial"/>
                <a:cs typeface="Arial"/>
              </a:rPr>
              <a:t>/tool-handler/v1</a:t>
            </a:r>
            <a:endParaRPr sz="1125">
              <a:solidFill>
                <a:srgbClr val="5F6B75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Recebe a solicitação de gatilho vinda da IBM; 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verifica se o gatilho está autorizado;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valida o schema;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restringe campos e parâmetros;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sanitiza/normaliza o payload;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valida se o gatilho é coerente com a intenção;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  <a:p>
            <a:pPr marL="152400" lvl="0" indent="-76200" algn="l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ClrTx/>
              <a:buSzTx/>
              <a:buFont typeface="Arial"/>
              <a:buChar char="•"/>
              <a:defRPr sz="1200"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encaminha somente o payload permitido  para o </a:t>
            </a:r>
            <a:r>
              <a:rPr sz="1200" b="1">
                <a:solidFill>
                  <a:srgbClr val="41474C"/>
                </a:solidFill>
                <a:latin typeface="Arial"/>
                <a:ea typeface="Arial"/>
                <a:cs typeface="Arial"/>
              </a:rPr>
              <a:t>transaction-executor</a:t>
            </a: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; </a:t>
            </a:r>
            <a:endParaRPr sz="120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AgentOps">
            <a:extLst>
              <a:ext uri="{FF2B5EF4-FFF2-40B4-BE49-F238E27FC236}">
                <a16:creationId xmlns:a16="http://schemas.microsoft.com/office/drawing/2014/main" id="{EF6D2A22-B807-4144-3EBF-1C1ABDD3E95D}"/>
              </a:ext>
            </a:extLst>
          </p:cNvPr>
          <p:cNvSpPr>
            <a:spLocks noGrp="1"/>
          </p:cNvSpPr>
          <p:nvPr/>
        </p:nvSpPr>
        <p:spPr>
          <a:xfrm>
            <a:off x="14287500" y="8001000"/>
            <a:ext cx="2571750" cy="952500"/>
          </a:xfrm>
          <a:prstGeom prst="rect">
            <a:avLst/>
          </a:prstGeom>
          <a:solidFill>
            <a:srgbClr val="FFFFFF"/>
          </a:solidFill>
          <a:ln w="11430">
            <a:solidFill>
              <a:srgbClr val="2670B5"/>
            </a:solidFill>
            <a:prstDash val="solid"/>
          </a:ln>
        </p:spPr>
        <p:txBody>
          <a:bodyPr wrap="square" lIns="114300" tIns="142875" rIns="114300" bIns="114300" anchor="t">
            <a:no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  <a:buNone/>
              <a:defRPr sz="1500"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70B5"/>
                </a:solidFill>
                <a:latin typeface="Arial"/>
                <a:ea typeface="Arial"/>
                <a:cs typeface="Arial"/>
              </a:rPr>
              <a:t>AgentOps</a:t>
            </a:r>
            <a:endParaRPr sz="1500">
              <a:solidFill>
                <a:srgbClr val="2670B5"/>
              </a:solidFill>
              <a:latin typeface="Arial"/>
              <a:ea typeface="Arial"/>
              <a:cs typeface="Arial"/>
            </a:endParaRPr>
          </a:p>
          <a:p>
            <a:pPr algn="ctr">
              <a:spcBef>
                <a:spcPts val="0"/>
              </a:spcBef>
              <a:spcAft>
                <a:spcPts val="900"/>
              </a:spcAft>
              <a:buNone/>
              <a:defRPr sz="1125"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5F6B75"/>
                </a:solidFill>
                <a:latin typeface="Arial"/>
                <a:ea typeface="Arial"/>
                <a:cs typeface="Arial"/>
              </a:rPr>
              <a:t>chat-completion ou A2A</a:t>
            </a:r>
            <a:endParaRPr sz="1125" b="0">
              <a:solidFill>
                <a:srgbClr val="5F6B7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5" name="Conector de Seta Reta 74"/>
          <p:cNvCxnSpPr>
            <a:cxnSpLocks/>
            <a:stCxn id="32" idx="3"/>
            <a:endCxn id="12" idx="1"/>
          </p:cNvCxnSpPr>
          <p:nvPr/>
        </p:nvCxnSpPr>
        <p:spPr>
          <a:xfrm>
            <a:off x="489585" y="4665345"/>
            <a:ext cx="3324225" cy="1905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6" name="Conector de Seta Reta 75"/>
          <p:cNvCxnSpPr>
            <a:stCxn id="12" idx="3"/>
            <a:endCxn id="13" idx="1"/>
          </p:cNvCxnSpPr>
          <p:nvPr/>
        </p:nvCxnSpPr>
        <p:spPr>
          <a:xfrm>
            <a:off x="5814060" y="4667250"/>
            <a:ext cx="285750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7" name="Conector de Seta Reta 76"/>
          <p:cNvCxnSpPr>
            <a:stCxn id="13" idx="3"/>
            <a:endCxn id="14" idx="1"/>
          </p:cNvCxnSpPr>
          <p:nvPr/>
        </p:nvCxnSpPr>
        <p:spPr>
          <a:xfrm>
            <a:off x="8195310" y="4667250"/>
            <a:ext cx="285750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8" name="Conector de Seta Reta 77"/>
          <p:cNvCxnSpPr>
            <a:stCxn id="14" idx="3"/>
            <a:endCxn id="15" idx="1"/>
          </p:cNvCxnSpPr>
          <p:nvPr/>
        </p:nvCxnSpPr>
        <p:spPr>
          <a:xfrm>
            <a:off x="10243185" y="4667250"/>
            <a:ext cx="666750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79" name="Conector de Seta Reta 78"/>
          <p:cNvCxnSpPr>
            <a:stCxn id="15" idx="3"/>
            <a:endCxn id="16" idx="1"/>
          </p:cNvCxnSpPr>
          <p:nvPr/>
        </p:nvCxnSpPr>
        <p:spPr>
          <a:xfrm>
            <a:off x="13481685" y="4667250"/>
            <a:ext cx="996315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0" name="Conector de Seta Reta 79"/>
          <p:cNvCxnSpPr>
            <a:stCxn id="16" idx="3"/>
            <a:endCxn id="17" idx="1"/>
          </p:cNvCxnSpPr>
          <p:nvPr/>
        </p:nvCxnSpPr>
        <p:spPr>
          <a:xfrm>
            <a:off x="16668750" y="4667250"/>
            <a:ext cx="1000125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1" name="Conector: Angulado 80"/>
          <p:cNvCxnSpPr>
            <a:stCxn id="16" idx="2"/>
            <a:endCxn id="21" idx="0"/>
          </p:cNvCxnSpPr>
          <p:nvPr/>
        </p:nvCxnSpPr>
        <p:spPr>
          <a:xfrm flipH="1">
            <a:off x="12195810" y="6096000"/>
            <a:ext cx="3377565" cy="666750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2" name="Conector de Seta Reta 81"/>
          <p:cNvCxnSpPr>
            <a:stCxn id="16" idx="2"/>
            <a:endCxn id="24" idx="0"/>
          </p:cNvCxnSpPr>
          <p:nvPr/>
        </p:nvCxnSpPr>
        <p:spPr>
          <a:xfrm>
            <a:off x="15573375" y="6096000"/>
            <a:ext cx="0" cy="190500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3" name="Conector de Seta Reta 82"/>
          <p:cNvCxnSpPr>
            <a:stCxn id="24" idx="1"/>
            <a:endCxn id="21" idx="3"/>
          </p:cNvCxnSpPr>
          <p:nvPr/>
        </p:nvCxnSpPr>
        <p:spPr>
          <a:xfrm flipH="1">
            <a:off x="13481685" y="8477250"/>
            <a:ext cx="805815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4" name="Conector de Seta Reta 83"/>
          <p:cNvCxnSpPr>
            <a:stCxn id="21" idx="1"/>
            <a:endCxn id="20" idx="3"/>
          </p:cNvCxnSpPr>
          <p:nvPr/>
        </p:nvCxnSpPr>
        <p:spPr>
          <a:xfrm flipH="1">
            <a:off x="8719185" y="8477250"/>
            <a:ext cx="2190750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5" name="Conector de Seta Reta 84"/>
          <p:cNvCxnSpPr>
            <a:cxnSpLocks/>
            <a:stCxn id="20" idx="1"/>
            <a:endCxn id="19" idx="3"/>
          </p:cNvCxnSpPr>
          <p:nvPr/>
        </p:nvCxnSpPr>
        <p:spPr>
          <a:xfrm flipH="1">
            <a:off x="3333749" y="8477250"/>
            <a:ext cx="2242186" cy="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6" name="Conector de Seta Reta 85"/>
          <p:cNvCxnSpPr>
            <a:stCxn id="20" idx="0"/>
            <a:endCxn id="13" idx="2"/>
          </p:cNvCxnSpPr>
          <p:nvPr/>
        </p:nvCxnSpPr>
        <p:spPr>
          <a:xfrm flipV="1">
            <a:off x="7147560" y="6096000"/>
            <a:ext cx="0" cy="666750"/>
          </a:xfrm>
          <a:prstGeom prst="straightConnector1">
            <a:avLst/>
          </a:prstGeom>
          <a:ln w="15240">
            <a:solidFill>
              <a:srgbClr val="4B535B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9" name="GET sessão">
            <a:extLst>
              <a:ext uri="{FF2B5EF4-FFF2-40B4-BE49-F238E27FC236}">
                <a16:creationId xmlns:a16="http://schemas.microsoft.com/office/drawing/2014/main" id="{067C2892-B217-4F47-B293-163B6B807B93}"/>
              </a:ext>
            </a:extLst>
          </p:cNvPr>
          <p:cNvSpPr>
            <a:spLocks noGrp="1"/>
          </p:cNvSpPr>
          <p:nvPr/>
        </p:nvSpPr>
        <p:spPr>
          <a:xfrm>
            <a:off x="6052185" y="6334125"/>
            <a:ext cx="2190750" cy="285750"/>
          </a:xfrm>
          <a:prstGeom prst="rect">
            <a:avLst/>
          </a:prstGeom>
          <a:solidFill>
            <a:srgbClr val="D9EADB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B75"/>
                </a:solidFill>
                <a:latin typeface="Arial"/>
                <a:ea typeface="Arial"/>
                <a:cs typeface="Arial"/>
              </a:rPr>
              <a:t>GET /api/sdk/session</a:t>
            </a:r>
            <a:endParaRPr sz="1200" b="1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IBM Operação">
            <a:extLst>
              <a:ext uri="{FF2B5EF4-FFF2-40B4-BE49-F238E27FC236}">
                <a16:creationId xmlns:a16="http://schemas.microsoft.com/office/drawing/2014/main" id="{721AF55E-1CF2-4116-B133-413C95CCC92D}"/>
              </a:ext>
            </a:extLst>
          </p:cNvPr>
          <p:cNvSpPr>
            <a:spLocks noGrp="1"/>
          </p:cNvSpPr>
          <p:nvPr/>
        </p:nvSpPr>
        <p:spPr>
          <a:xfrm>
            <a:off x="13754212" y="6267450"/>
            <a:ext cx="1390538" cy="342900"/>
          </a:xfrm>
          <a:prstGeom prst="rect">
            <a:avLst/>
          </a:prstGeom>
          <a:solidFill>
            <a:srgbClr val="FAF4DC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41474C"/>
                </a:solidFill>
                <a:latin typeface="Arial"/>
                <a:ea typeface="Arial"/>
                <a:cs typeface="Arial"/>
              </a:rPr>
              <a:t>IBM </a:t>
            </a:r>
            <a:r>
              <a:rPr sz="1200" b="0" dirty="0" err="1">
                <a:solidFill>
                  <a:srgbClr val="41474C"/>
                </a:solidFill>
                <a:latin typeface="Arial"/>
                <a:ea typeface="Arial"/>
                <a:cs typeface="Arial"/>
              </a:rPr>
              <a:t>Operação</a:t>
            </a:r>
            <a:endParaRPr sz="1200" b="0" dirty="0">
              <a:solidFill>
                <a:srgbClr val="4147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NIA Proxy">
            <a:extLst>
              <a:ext uri="{FF2B5EF4-FFF2-40B4-BE49-F238E27FC236}">
                <a16:creationId xmlns:a16="http://schemas.microsoft.com/office/drawing/2014/main" id="{2A50F6D3-4BB3-CE84-E5F2-3048B177DE7A}"/>
              </a:ext>
            </a:extLst>
          </p:cNvPr>
          <p:cNvSpPr>
            <a:spLocks noGrp="1"/>
          </p:cNvSpPr>
          <p:nvPr/>
        </p:nvSpPr>
        <p:spPr>
          <a:xfrm>
            <a:off x="14716125" y="7277100"/>
            <a:ext cx="1714500" cy="323850"/>
          </a:xfrm>
          <a:prstGeom prst="rect">
            <a:avLst/>
          </a:prstGeom>
          <a:solidFill>
            <a:srgbClr val="FAF4DC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00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NIA Proxy</a:t>
            </a:r>
          </a:p>
        </p:txBody>
      </p:sp>
      <p:sp>
        <p:nvSpPr>
          <p:cNvPr id="32" name="c11">
            <a:extLst>
              <a:ext uri="{FF2B5EF4-FFF2-40B4-BE49-F238E27FC236}">
                <a16:creationId xmlns:a16="http://schemas.microsoft.com/office/drawing/2014/main" id="{CE58CF0A-5822-AEEF-FD0A-30D8240928CF}"/>
              </a:ext>
            </a:extLst>
          </p:cNvPr>
          <p:cNvSpPr>
            <a:spLocks noGrp="1"/>
          </p:cNvSpPr>
          <p:nvPr/>
        </p:nvSpPr>
        <p:spPr>
          <a:xfrm>
            <a:off x="232410" y="4436745"/>
            <a:ext cx="257175" cy="457200"/>
          </a:xfrm>
          <a:prstGeom prst="roundRect">
            <a:avLst>
              <a:gd name="adj" fmla="val 29630"/>
            </a:avLst>
          </a:prstGeom>
          <a:solidFill>
            <a:srgbClr val="4B8FAC"/>
          </a:solidFill>
          <a:ln w="9525">
            <a:solidFill>
              <a:srgbClr val="39749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c12">
            <a:extLst>
              <a:ext uri="{FF2B5EF4-FFF2-40B4-BE49-F238E27FC236}">
                <a16:creationId xmlns:a16="http://schemas.microsoft.com/office/drawing/2014/main" id="{0D0CAEBE-B706-23BD-7077-0442D0BC3936}"/>
              </a:ext>
            </a:extLst>
          </p:cNvPr>
          <p:cNvSpPr>
            <a:spLocks noGrp="1"/>
          </p:cNvSpPr>
          <p:nvPr/>
        </p:nvSpPr>
        <p:spPr>
          <a:xfrm>
            <a:off x="260985" y="4484370"/>
            <a:ext cx="200025" cy="314325"/>
          </a:xfrm>
          <a:prstGeom prst="rect">
            <a:avLst/>
          </a:prstGeom>
          <a:solidFill>
            <a:srgbClr val="EAE7AC"/>
          </a:solidFill>
          <a:ln w="9525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c13">
            <a:extLst>
              <a:ext uri="{FF2B5EF4-FFF2-40B4-BE49-F238E27FC236}">
                <a16:creationId xmlns:a16="http://schemas.microsoft.com/office/drawing/2014/main" id="{C1ADCDD1-5F4B-8BB1-74FE-5A038AB65076}"/>
              </a:ext>
            </a:extLst>
          </p:cNvPr>
          <p:cNvSpPr>
            <a:spLocks noGrp="1"/>
          </p:cNvSpPr>
          <p:nvPr/>
        </p:nvSpPr>
        <p:spPr>
          <a:xfrm>
            <a:off x="346710" y="4836795"/>
            <a:ext cx="38100" cy="28575"/>
          </a:xfrm>
          <a:prstGeom prst="ellipse">
            <a:avLst/>
          </a:prstGeom>
          <a:solidFill>
            <a:srgbClr val="F6F6F6"/>
          </a:solidFill>
          <a:ln w="9525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c14">
            <a:extLst>
              <a:ext uri="{FF2B5EF4-FFF2-40B4-BE49-F238E27FC236}">
                <a16:creationId xmlns:a16="http://schemas.microsoft.com/office/drawing/2014/main" id="{A866D446-524D-26E4-D9BE-5F018465959E}"/>
              </a:ext>
            </a:extLst>
          </p:cNvPr>
          <p:cNvSpPr>
            <a:spLocks noGrp="1"/>
          </p:cNvSpPr>
          <p:nvPr/>
        </p:nvSpPr>
        <p:spPr>
          <a:xfrm>
            <a:off x="270510" y="4551045"/>
            <a:ext cx="1809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0" b="1">
                <a:solidFill>
                  <a:srgbClr val="2670B5"/>
                </a:solidFill>
                <a:latin typeface="Arial"/>
                <a:ea typeface="Arial"/>
                <a:cs typeface="Arial"/>
              </a:defRPr>
            </a:pPr>
            <a:r>
              <a:rPr sz="750" b="1" dirty="0">
                <a:solidFill>
                  <a:srgbClr val="2670B5"/>
                </a:solidFill>
                <a:latin typeface="Arial"/>
                <a:ea typeface="Arial"/>
                <a:cs typeface="Arial"/>
              </a:rPr>
              <a:t>BB</a:t>
            </a:r>
          </a:p>
        </p:txBody>
      </p:sp>
      <p:sp>
        <p:nvSpPr>
          <p:cNvPr id="44" name="c15">
            <a:extLst>
              <a:ext uri="{FF2B5EF4-FFF2-40B4-BE49-F238E27FC236}">
                <a16:creationId xmlns:a16="http://schemas.microsoft.com/office/drawing/2014/main" id="{2A0F44DD-7914-6E2A-B3CC-45EF12486817}"/>
              </a:ext>
            </a:extLst>
          </p:cNvPr>
          <p:cNvSpPr>
            <a:spLocks noGrp="1"/>
          </p:cNvSpPr>
          <p:nvPr/>
        </p:nvSpPr>
        <p:spPr>
          <a:xfrm>
            <a:off x="32385" y="4951095"/>
            <a:ext cx="704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75" b="0">
                <a:solidFill>
                  <a:srgbClr val="41474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74C"/>
                </a:solidFill>
                <a:latin typeface="Arial"/>
                <a:ea typeface="Arial"/>
                <a:cs typeface="Arial"/>
              </a:rPr>
              <a:t>APP BB</a:t>
            </a:r>
          </a:p>
        </p:txBody>
      </p:sp>
    </p:spTree>
    <p:extLst>
      <p:ext uri="{BB962C8B-B14F-4D97-AF65-F5344CB8AC3E}">
        <p14:creationId xmlns:p14="http://schemas.microsoft.com/office/powerpoint/2010/main" val="2009687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DocSecurity>0</DocSecurity>
  <PresentationFormat>Personalizar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Aptos</vt:lpstr>
      <vt:lpstr>Arial</vt:lpstr>
      <vt:lpstr>ChatGPT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Manuel Cruz</cp:lastModifiedBy>
  <cp:revision>1</cp:revision>
  <dcterms:created xsi:type="dcterms:W3CDTF">2026-10-07T01:26:09Z</dcterms:created>
  <dcterms:modified xsi:type="dcterms:W3CDTF">2026-10-07T01:31:40Z</dcterms:modified>
</cp:coreProperties>
</file>